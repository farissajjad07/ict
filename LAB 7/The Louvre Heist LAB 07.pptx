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1" autoAdjust="0"/>
    <p:restoredTop sz="94660"/>
  </p:normalViewPr>
  <p:slideViewPr>
    <p:cSldViewPr snapToGrid="0">
      <p:cViewPr>
        <p:scale>
          <a:sx n="75" d="100"/>
          <a:sy n="75" d="100"/>
        </p:scale>
        <p:origin x="387"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hyperlink" Target="https://www.theguardian.com/world/2025/oct/26/two-men-reportedly-arrested-after-louvre-jewel-heist?utm_source=chatgpt.com" TargetMode="External"/><Relationship Id="rId2" Type="http://schemas.openxmlformats.org/officeDocument/2006/relationships/hyperlink" Target="https://apnews.com/article/a3687f330a43e0aaff68c732c4b2585b?utm_source=chatgpt.com" TargetMode="External"/><Relationship Id="rId1" Type="http://schemas.openxmlformats.org/officeDocument/2006/relationships/hyperlink" Target="https://www.reuters.com/world/europe/thieves-steal-jewels-louvre-paris-media-reports-2025-10-19/?utm_source=chatgpt.com" TargetMode="External"/><Relationship Id="rId4" Type="http://schemas.openxmlformats.org/officeDocument/2006/relationships/hyperlink" Target="https://www.reuters.com/world/europe/louvre-transfers-jewels-bank-france-after-heist-rtl-reports-2025-10-25/?utm_source=chatgpt.com" TargetMode="External"/></Relationships>
</file>

<file path=ppt/diagrams/_rels/drawing2.xml.rels><?xml version="1.0" encoding="UTF-8" standalone="yes"?>
<Relationships xmlns="http://schemas.openxmlformats.org/package/2006/relationships"><Relationship Id="rId3" Type="http://schemas.openxmlformats.org/officeDocument/2006/relationships/hyperlink" Target="https://www.theguardian.com/world/2025/oct/26/two-men-reportedly-arrested-after-louvre-jewel-heist?utm_source=chatgpt.com" TargetMode="External"/><Relationship Id="rId2" Type="http://schemas.openxmlformats.org/officeDocument/2006/relationships/hyperlink" Target="https://apnews.com/article/a3687f330a43e0aaff68c732c4b2585b?utm_source=chatgpt.com" TargetMode="External"/><Relationship Id="rId1" Type="http://schemas.openxmlformats.org/officeDocument/2006/relationships/hyperlink" Target="https://www.reuters.com/world/europe/thieves-steal-jewels-louvre-paris-media-reports-2025-10-19/?utm_source=chatgpt.com" TargetMode="External"/><Relationship Id="rId4" Type="http://schemas.openxmlformats.org/officeDocument/2006/relationships/hyperlink" Target="https://www.reuters.com/world/europe/louvre-transfers-jewels-bank-france-after-heist-rtl-reports-2025-10-25/?utm_source=chatgpt.co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A70AF5-31E5-42E5-88A8-9B59F4DB3F26}"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9EBFEF00-6504-451C-88A4-9296E730A02F}">
      <dgm:prSet/>
      <dgm:spPr/>
      <dgm:t>
        <a:bodyPr/>
        <a:lstStyle/>
        <a:p>
          <a:r>
            <a:rPr lang="en-US"/>
            <a:t>1) Title slide</a:t>
          </a:r>
        </a:p>
      </dgm:t>
    </dgm:pt>
    <dgm:pt modelId="{C0E2ECB6-237D-47FF-B208-6FB643524A71}" type="parTrans" cxnId="{376846A8-95C2-41FC-A1E4-883DBE5FB028}">
      <dgm:prSet/>
      <dgm:spPr/>
      <dgm:t>
        <a:bodyPr/>
        <a:lstStyle/>
        <a:p>
          <a:endParaRPr lang="en-US"/>
        </a:p>
      </dgm:t>
    </dgm:pt>
    <dgm:pt modelId="{12254BC2-1021-4A3A-8860-86F496C70B8A}" type="sibTrans" cxnId="{376846A8-95C2-41FC-A1E4-883DBE5FB028}">
      <dgm:prSet/>
      <dgm:spPr/>
      <dgm:t>
        <a:bodyPr/>
        <a:lstStyle/>
        <a:p>
          <a:endParaRPr lang="en-US"/>
        </a:p>
      </dgm:t>
    </dgm:pt>
    <dgm:pt modelId="{344EA307-19A8-4219-BDDE-927FCF4057D1}">
      <dgm:prSet/>
      <dgm:spPr/>
      <dgm:t>
        <a:bodyPr/>
        <a:lstStyle/>
        <a:p>
          <a:r>
            <a:rPr lang="en-US"/>
            <a:t>2) A summary of events</a:t>
          </a:r>
          <a:br>
            <a:rPr lang="en-US"/>
          </a:br>
          <a:r>
            <a:rPr lang="en-US"/>
            <a:t>3) The target</a:t>
          </a:r>
        </a:p>
      </dgm:t>
    </dgm:pt>
    <dgm:pt modelId="{4ED11525-FBAA-4C93-BCAD-3AF146B726EA}" type="parTrans" cxnId="{B81329AD-8284-40A2-9354-95E3E32D3B1B}">
      <dgm:prSet/>
      <dgm:spPr/>
      <dgm:t>
        <a:bodyPr/>
        <a:lstStyle/>
        <a:p>
          <a:endParaRPr lang="en-US"/>
        </a:p>
      </dgm:t>
    </dgm:pt>
    <dgm:pt modelId="{B703D9A4-A06A-4B52-8835-52E143684510}" type="sibTrans" cxnId="{B81329AD-8284-40A2-9354-95E3E32D3B1B}">
      <dgm:prSet/>
      <dgm:spPr/>
      <dgm:t>
        <a:bodyPr/>
        <a:lstStyle/>
        <a:p>
          <a:endParaRPr lang="en-US"/>
        </a:p>
      </dgm:t>
    </dgm:pt>
    <dgm:pt modelId="{1DBC99CF-C95C-46C8-93D1-E361560DBDD5}">
      <dgm:prSet/>
      <dgm:spPr/>
      <dgm:t>
        <a:bodyPr/>
        <a:lstStyle/>
        <a:p>
          <a:r>
            <a:rPr lang="en-US" dirty="0"/>
            <a:t>4) Chronological timeline</a:t>
          </a:r>
          <a:br>
            <a:rPr lang="en-US" dirty="0"/>
          </a:br>
          <a:r>
            <a:rPr lang="en-US" dirty="0"/>
            <a:t>5) Exact items stolen</a:t>
          </a:r>
        </a:p>
      </dgm:t>
    </dgm:pt>
    <dgm:pt modelId="{5FD01F96-8C71-45C4-A6C3-B7DF43D30A20}" type="parTrans" cxnId="{603B5D87-6E63-4F7A-A491-1289B03192C2}">
      <dgm:prSet/>
      <dgm:spPr/>
      <dgm:t>
        <a:bodyPr/>
        <a:lstStyle/>
        <a:p>
          <a:endParaRPr lang="en-US"/>
        </a:p>
      </dgm:t>
    </dgm:pt>
    <dgm:pt modelId="{5DF4E1B9-8EBC-460D-B2CA-37BFAA19CD66}" type="sibTrans" cxnId="{603B5D87-6E63-4F7A-A491-1289B03192C2}">
      <dgm:prSet/>
      <dgm:spPr/>
      <dgm:t>
        <a:bodyPr/>
        <a:lstStyle/>
        <a:p>
          <a:endParaRPr lang="en-US"/>
        </a:p>
      </dgm:t>
    </dgm:pt>
    <dgm:pt modelId="{5BD1A1FB-1AE5-47AE-9C1B-155E445BFF26}">
      <dgm:prSet/>
      <dgm:spPr/>
      <dgm:t>
        <a:bodyPr/>
        <a:lstStyle/>
        <a:p>
          <a:r>
            <a:rPr lang="en-US"/>
            <a:t>6) How they did it: methods &amp; tools</a:t>
          </a:r>
        </a:p>
      </dgm:t>
    </dgm:pt>
    <dgm:pt modelId="{583622D3-BE29-46FD-B818-ED0B303BB7E1}" type="parTrans" cxnId="{1536BA12-4DFD-431E-8619-B3FFDF1F78FF}">
      <dgm:prSet/>
      <dgm:spPr/>
      <dgm:t>
        <a:bodyPr/>
        <a:lstStyle/>
        <a:p>
          <a:endParaRPr lang="en-US"/>
        </a:p>
      </dgm:t>
    </dgm:pt>
    <dgm:pt modelId="{0B9C0907-A8F7-4E8B-9E97-533151035ADC}" type="sibTrans" cxnId="{1536BA12-4DFD-431E-8619-B3FFDF1F78FF}">
      <dgm:prSet/>
      <dgm:spPr/>
      <dgm:t>
        <a:bodyPr/>
        <a:lstStyle/>
        <a:p>
          <a:endParaRPr lang="en-US"/>
        </a:p>
      </dgm:t>
    </dgm:pt>
    <dgm:pt modelId="{7555BC95-DB43-4661-A0EC-0759B270399D}">
      <dgm:prSet/>
      <dgm:spPr/>
      <dgm:t>
        <a:bodyPr/>
        <a:lstStyle/>
        <a:p>
          <a:r>
            <a:rPr lang="en-US" dirty="0"/>
            <a:t>7) Investigation progress &amp; arrests</a:t>
          </a:r>
          <a:br>
            <a:rPr lang="en-US" dirty="0"/>
          </a:br>
          <a:r>
            <a:rPr lang="en-US" dirty="0"/>
            <a:t>8) Media coverage and public perception</a:t>
          </a:r>
        </a:p>
      </dgm:t>
    </dgm:pt>
    <dgm:pt modelId="{47097664-F150-4697-BF21-3EDBF3AEBBDA}" type="parTrans" cxnId="{EB16CED1-C855-4C13-8EE9-0F06B5872C71}">
      <dgm:prSet/>
      <dgm:spPr/>
      <dgm:t>
        <a:bodyPr/>
        <a:lstStyle/>
        <a:p>
          <a:endParaRPr lang="en-US"/>
        </a:p>
      </dgm:t>
    </dgm:pt>
    <dgm:pt modelId="{A6439BF4-FE00-44CC-885C-26C8C2C88C2D}" type="sibTrans" cxnId="{EB16CED1-C855-4C13-8EE9-0F06B5872C71}">
      <dgm:prSet/>
      <dgm:spPr/>
      <dgm:t>
        <a:bodyPr/>
        <a:lstStyle/>
        <a:p>
          <a:endParaRPr lang="en-US"/>
        </a:p>
      </dgm:t>
    </dgm:pt>
    <dgm:pt modelId="{E2207466-B366-43F5-B88A-9C2CC49BB0D1}">
      <dgm:prSet/>
      <dgm:spPr/>
      <dgm:t>
        <a:bodyPr/>
        <a:lstStyle/>
        <a:p>
          <a:r>
            <a:rPr lang="en-US"/>
            <a:t>9) Sources &amp; further reading</a:t>
          </a:r>
        </a:p>
      </dgm:t>
    </dgm:pt>
    <dgm:pt modelId="{8526E64C-EBE0-4376-A937-4B9C60314DBE}" type="parTrans" cxnId="{08653237-5F2C-42C3-9BAD-2036CDFD4A7F}">
      <dgm:prSet/>
      <dgm:spPr/>
      <dgm:t>
        <a:bodyPr/>
        <a:lstStyle/>
        <a:p>
          <a:endParaRPr lang="en-US"/>
        </a:p>
      </dgm:t>
    </dgm:pt>
    <dgm:pt modelId="{B754B5DF-944D-444F-AB6D-ACDC0E218B00}" type="sibTrans" cxnId="{08653237-5F2C-42C3-9BAD-2036CDFD4A7F}">
      <dgm:prSet/>
      <dgm:spPr/>
      <dgm:t>
        <a:bodyPr/>
        <a:lstStyle/>
        <a:p>
          <a:endParaRPr lang="en-US"/>
        </a:p>
      </dgm:t>
    </dgm:pt>
    <dgm:pt modelId="{E7B12A5D-6BBE-44D9-980B-09F5F16D87FC}" type="pres">
      <dgm:prSet presAssocID="{CEA70AF5-31E5-42E5-88A8-9B59F4DB3F26}" presName="Name0" presStyleCnt="0">
        <dgm:presLayoutVars>
          <dgm:dir/>
          <dgm:resizeHandles val="exact"/>
        </dgm:presLayoutVars>
      </dgm:prSet>
      <dgm:spPr/>
    </dgm:pt>
    <dgm:pt modelId="{560848EA-1EF5-4562-8C16-851534E923D9}" type="pres">
      <dgm:prSet presAssocID="{CEA70AF5-31E5-42E5-88A8-9B59F4DB3F26}" presName="arrow" presStyleLbl="bgShp" presStyleIdx="0" presStyleCnt="1"/>
      <dgm:spPr/>
    </dgm:pt>
    <dgm:pt modelId="{D7663871-EB29-4E2E-83DD-08824C3D3228}" type="pres">
      <dgm:prSet presAssocID="{CEA70AF5-31E5-42E5-88A8-9B59F4DB3F26}" presName="points" presStyleCnt="0"/>
      <dgm:spPr/>
    </dgm:pt>
    <dgm:pt modelId="{360267CD-DE20-4E70-B0DC-3D5D4CAD29E1}" type="pres">
      <dgm:prSet presAssocID="{9EBFEF00-6504-451C-88A4-9296E730A02F}" presName="compositeA" presStyleCnt="0"/>
      <dgm:spPr/>
    </dgm:pt>
    <dgm:pt modelId="{280D72D4-F5C4-4FE3-9BAE-743D5297F478}" type="pres">
      <dgm:prSet presAssocID="{9EBFEF00-6504-451C-88A4-9296E730A02F}" presName="textA" presStyleLbl="revTx" presStyleIdx="0" presStyleCnt="6">
        <dgm:presLayoutVars>
          <dgm:bulletEnabled val="1"/>
        </dgm:presLayoutVars>
      </dgm:prSet>
      <dgm:spPr/>
    </dgm:pt>
    <dgm:pt modelId="{D0254100-E1A3-4E68-B4E0-9CC26EF3FE92}" type="pres">
      <dgm:prSet presAssocID="{9EBFEF00-6504-451C-88A4-9296E730A02F}" presName="circleA" presStyleLbl="node1" presStyleIdx="0" presStyleCnt="6"/>
      <dgm:spPr/>
    </dgm:pt>
    <dgm:pt modelId="{B6866BF4-D1DB-4BE0-8DD5-D5BB5FE21FD8}" type="pres">
      <dgm:prSet presAssocID="{9EBFEF00-6504-451C-88A4-9296E730A02F}" presName="spaceA" presStyleCnt="0"/>
      <dgm:spPr/>
    </dgm:pt>
    <dgm:pt modelId="{F3AC5A1C-3418-4323-ABCD-6F5E2ED3A5FC}" type="pres">
      <dgm:prSet presAssocID="{12254BC2-1021-4A3A-8860-86F496C70B8A}" presName="space" presStyleCnt="0"/>
      <dgm:spPr/>
    </dgm:pt>
    <dgm:pt modelId="{C5242142-C61D-4158-B605-FAFC357E8F20}" type="pres">
      <dgm:prSet presAssocID="{344EA307-19A8-4219-BDDE-927FCF4057D1}" presName="compositeB" presStyleCnt="0"/>
      <dgm:spPr/>
    </dgm:pt>
    <dgm:pt modelId="{6AA25CC8-50CB-4EAC-B570-7A4763050D62}" type="pres">
      <dgm:prSet presAssocID="{344EA307-19A8-4219-BDDE-927FCF4057D1}" presName="textB" presStyleLbl="revTx" presStyleIdx="1" presStyleCnt="6">
        <dgm:presLayoutVars>
          <dgm:bulletEnabled val="1"/>
        </dgm:presLayoutVars>
      </dgm:prSet>
      <dgm:spPr/>
    </dgm:pt>
    <dgm:pt modelId="{D99F0F81-C9EC-47E7-B018-44EAC138E69C}" type="pres">
      <dgm:prSet presAssocID="{344EA307-19A8-4219-BDDE-927FCF4057D1}" presName="circleB" presStyleLbl="node1" presStyleIdx="1" presStyleCnt="6"/>
      <dgm:spPr/>
    </dgm:pt>
    <dgm:pt modelId="{371AA6F7-1A10-4708-871A-1200F0860D13}" type="pres">
      <dgm:prSet presAssocID="{344EA307-19A8-4219-BDDE-927FCF4057D1}" presName="spaceB" presStyleCnt="0"/>
      <dgm:spPr/>
    </dgm:pt>
    <dgm:pt modelId="{881243E6-559D-437E-8340-7B94B1F1C920}" type="pres">
      <dgm:prSet presAssocID="{B703D9A4-A06A-4B52-8835-52E143684510}" presName="space" presStyleCnt="0"/>
      <dgm:spPr/>
    </dgm:pt>
    <dgm:pt modelId="{B3EBF250-AE2F-4955-8F47-71F008D045FD}" type="pres">
      <dgm:prSet presAssocID="{1DBC99CF-C95C-46C8-93D1-E361560DBDD5}" presName="compositeA" presStyleCnt="0"/>
      <dgm:spPr/>
    </dgm:pt>
    <dgm:pt modelId="{C1AF7448-C155-4CD5-8240-588938C5D62C}" type="pres">
      <dgm:prSet presAssocID="{1DBC99CF-C95C-46C8-93D1-E361560DBDD5}" presName="textA" presStyleLbl="revTx" presStyleIdx="2" presStyleCnt="6">
        <dgm:presLayoutVars>
          <dgm:bulletEnabled val="1"/>
        </dgm:presLayoutVars>
      </dgm:prSet>
      <dgm:spPr/>
    </dgm:pt>
    <dgm:pt modelId="{DE9BD1C8-52D9-4788-A519-6119FB74D1A1}" type="pres">
      <dgm:prSet presAssocID="{1DBC99CF-C95C-46C8-93D1-E361560DBDD5}" presName="circleA" presStyleLbl="node1" presStyleIdx="2" presStyleCnt="6"/>
      <dgm:spPr/>
    </dgm:pt>
    <dgm:pt modelId="{4E29A95C-3874-4055-B40C-553E8E689749}" type="pres">
      <dgm:prSet presAssocID="{1DBC99CF-C95C-46C8-93D1-E361560DBDD5}" presName="spaceA" presStyleCnt="0"/>
      <dgm:spPr/>
    </dgm:pt>
    <dgm:pt modelId="{85B9A7CD-5BE8-409E-86D5-847CE55B24EC}" type="pres">
      <dgm:prSet presAssocID="{5DF4E1B9-8EBC-460D-B2CA-37BFAA19CD66}" presName="space" presStyleCnt="0"/>
      <dgm:spPr/>
    </dgm:pt>
    <dgm:pt modelId="{0AF2A5DF-921C-4977-8F30-1EA6B96D8FC7}" type="pres">
      <dgm:prSet presAssocID="{5BD1A1FB-1AE5-47AE-9C1B-155E445BFF26}" presName="compositeB" presStyleCnt="0"/>
      <dgm:spPr/>
    </dgm:pt>
    <dgm:pt modelId="{40596A71-8D1B-43D0-913D-49BE156936A5}" type="pres">
      <dgm:prSet presAssocID="{5BD1A1FB-1AE5-47AE-9C1B-155E445BFF26}" presName="textB" presStyleLbl="revTx" presStyleIdx="3" presStyleCnt="6">
        <dgm:presLayoutVars>
          <dgm:bulletEnabled val="1"/>
        </dgm:presLayoutVars>
      </dgm:prSet>
      <dgm:spPr/>
    </dgm:pt>
    <dgm:pt modelId="{F220A696-D334-495B-977A-D8F8336CABA6}" type="pres">
      <dgm:prSet presAssocID="{5BD1A1FB-1AE5-47AE-9C1B-155E445BFF26}" presName="circleB" presStyleLbl="node1" presStyleIdx="3" presStyleCnt="6"/>
      <dgm:spPr/>
    </dgm:pt>
    <dgm:pt modelId="{5D21B1AA-8093-4BF6-A719-73105433E570}" type="pres">
      <dgm:prSet presAssocID="{5BD1A1FB-1AE5-47AE-9C1B-155E445BFF26}" presName="spaceB" presStyleCnt="0"/>
      <dgm:spPr/>
    </dgm:pt>
    <dgm:pt modelId="{B3067FF4-86EC-4389-B552-91900514CA46}" type="pres">
      <dgm:prSet presAssocID="{0B9C0907-A8F7-4E8B-9E97-533151035ADC}" presName="space" presStyleCnt="0"/>
      <dgm:spPr/>
    </dgm:pt>
    <dgm:pt modelId="{E530DF7C-E2FA-454C-A75C-DBE8DDF9AE9B}" type="pres">
      <dgm:prSet presAssocID="{7555BC95-DB43-4661-A0EC-0759B270399D}" presName="compositeA" presStyleCnt="0"/>
      <dgm:spPr/>
    </dgm:pt>
    <dgm:pt modelId="{170F01FD-CEE2-4975-A00A-100AE914C73D}" type="pres">
      <dgm:prSet presAssocID="{7555BC95-DB43-4661-A0EC-0759B270399D}" presName="textA" presStyleLbl="revTx" presStyleIdx="4" presStyleCnt="6">
        <dgm:presLayoutVars>
          <dgm:bulletEnabled val="1"/>
        </dgm:presLayoutVars>
      </dgm:prSet>
      <dgm:spPr/>
    </dgm:pt>
    <dgm:pt modelId="{A3E764E6-A40B-4B49-9C5B-9CF6B894286E}" type="pres">
      <dgm:prSet presAssocID="{7555BC95-DB43-4661-A0EC-0759B270399D}" presName="circleA" presStyleLbl="node1" presStyleIdx="4" presStyleCnt="6"/>
      <dgm:spPr/>
    </dgm:pt>
    <dgm:pt modelId="{9535B6A4-5D69-41C2-8056-57B0E3DB13A5}" type="pres">
      <dgm:prSet presAssocID="{7555BC95-DB43-4661-A0EC-0759B270399D}" presName="spaceA" presStyleCnt="0"/>
      <dgm:spPr/>
    </dgm:pt>
    <dgm:pt modelId="{33DA4CDA-C53B-425E-8FBC-ECB29E3A7E61}" type="pres">
      <dgm:prSet presAssocID="{A6439BF4-FE00-44CC-885C-26C8C2C88C2D}" presName="space" presStyleCnt="0"/>
      <dgm:spPr/>
    </dgm:pt>
    <dgm:pt modelId="{8835C5BF-DA8C-4679-921E-27155EABB271}" type="pres">
      <dgm:prSet presAssocID="{E2207466-B366-43F5-B88A-9C2CC49BB0D1}" presName="compositeB" presStyleCnt="0"/>
      <dgm:spPr/>
    </dgm:pt>
    <dgm:pt modelId="{24572827-8698-4771-B367-181F918F94A7}" type="pres">
      <dgm:prSet presAssocID="{E2207466-B366-43F5-B88A-9C2CC49BB0D1}" presName="textB" presStyleLbl="revTx" presStyleIdx="5" presStyleCnt="6">
        <dgm:presLayoutVars>
          <dgm:bulletEnabled val="1"/>
        </dgm:presLayoutVars>
      </dgm:prSet>
      <dgm:spPr/>
    </dgm:pt>
    <dgm:pt modelId="{6B0E457B-901C-4A1B-AA13-D9998DF9AC41}" type="pres">
      <dgm:prSet presAssocID="{E2207466-B366-43F5-B88A-9C2CC49BB0D1}" presName="circleB" presStyleLbl="node1" presStyleIdx="5" presStyleCnt="6"/>
      <dgm:spPr/>
    </dgm:pt>
    <dgm:pt modelId="{5A8F0D00-CAC5-4E24-BC4F-F17584ACC7EC}" type="pres">
      <dgm:prSet presAssocID="{E2207466-B366-43F5-B88A-9C2CC49BB0D1}" presName="spaceB" presStyleCnt="0"/>
      <dgm:spPr/>
    </dgm:pt>
  </dgm:ptLst>
  <dgm:cxnLst>
    <dgm:cxn modelId="{1536BA12-4DFD-431E-8619-B3FFDF1F78FF}" srcId="{CEA70AF5-31E5-42E5-88A8-9B59F4DB3F26}" destId="{5BD1A1FB-1AE5-47AE-9C1B-155E445BFF26}" srcOrd="3" destOrd="0" parTransId="{583622D3-BE29-46FD-B818-ED0B303BB7E1}" sibTransId="{0B9C0907-A8F7-4E8B-9E97-533151035ADC}"/>
    <dgm:cxn modelId="{E0767723-1F6B-4A77-BD02-AB296BCE25FF}" type="presOf" srcId="{9EBFEF00-6504-451C-88A4-9296E730A02F}" destId="{280D72D4-F5C4-4FE3-9BAE-743D5297F478}" srcOrd="0" destOrd="0" presId="urn:microsoft.com/office/officeart/2005/8/layout/hProcess11"/>
    <dgm:cxn modelId="{F488B929-7DAA-4659-BE5E-5F9D3FDA3AB7}" type="presOf" srcId="{1DBC99CF-C95C-46C8-93D1-E361560DBDD5}" destId="{C1AF7448-C155-4CD5-8240-588938C5D62C}" srcOrd="0" destOrd="0" presId="urn:microsoft.com/office/officeart/2005/8/layout/hProcess11"/>
    <dgm:cxn modelId="{08653237-5F2C-42C3-9BAD-2036CDFD4A7F}" srcId="{CEA70AF5-31E5-42E5-88A8-9B59F4DB3F26}" destId="{E2207466-B366-43F5-B88A-9C2CC49BB0D1}" srcOrd="5" destOrd="0" parTransId="{8526E64C-EBE0-4376-A937-4B9C60314DBE}" sibTransId="{B754B5DF-944D-444F-AB6D-ACDC0E218B00}"/>
    <dgm:cxn modelId="{09463D45-7655-43C7-95A5-FD719204AC8E}" type="presOf" srcId="{7555BC95-DB43-4661-A0EC-0759B270399D}" destId="{170F01FD-CEE2-4975-A00A-100AE914C73D}" srcOrd="0" destOrd="0" presId="urn:microsoft.com/office/officeart/2005/8/layout/hProcess11"/>
    <dgm:cxn modelId="{781E8479-BECE-49A1-A83D-F3B740F3154D}" type="presOf" srcId="{CEA70AF5-31E5-42E5-88A8-9B59F4DB3F26}" destId="{E7B12A5D-6BBE-44D9-980B-09F5F16D87FC}" srcOrd="0" destOrd="0" presId="urn:microsoft.com/office/officeart/2005/8/layout/hProcess11"/>
    <dgm:cxn modelId="{603B5D87-6E63-4F7A-A491-1289B03192C2}" srcId="{CEA70AF5-31E5-42E5-88A8-9B59F4DB3F26}" destId="{1DBC99CF-C95C-46C8-93D1-E361560DBDD5}" srcOrd="2" destOrd="0" parTransId="{5FD01F96-8C71-45C4-A6C3-B7DF43D30A20}" sibTransId="{5DF4E1B9-8EBC-460D-B2CA-37BFAA19CD66}"/>
    <dgm:cxn modelId="{337D9799-53C0-480C-B423-C9693ABE259E}" type="presOf" srcId="{5BD1A1FB-1AE5-47AE-9C1B-155E445BFF26}" destId="{40596A71-8D1B-43D0-913D-49BE156936A5}" srcOrd="0" destOrd="0" presId="urn:microsoft.com/office/officeart/2005/8/layout/hProcess11"/>
    <dgm:cxn modelId="{376846A8-95C2-41FC-A1E4-883DBE5FB028}" srcId="{CEA70AF5-31E5-42E5-88A8-9B59F4DB3F26}" destId="{9EBFEF00-6504-451C-88A4-9296E730A02F}" srcOrd="0" destOrd="0" parTransId="{C0E2ECB6-237D-47FF-B208-6FB643524A71}" sibTransId="{12254BC2-1021-4A3A-8860-86F496C70B8A}"/>
    <dgm:cxn modelId="{B81329AD-8284-40A2-9354-95E3E32D3B1B}" srcId="{CEA70AF5-31E5-42E5-88A8-9B59F4DB3F26}" destId="{344EA307-19A8-4219-BDDE-927FCF4057D1}" srcOrd="1" destOrd="0" parTransId="{4ED11525-FBAA-4C93-BCAD-3AF146B726EA}" sibTransId="{B703D9A4-A06A-4B52-8835-52E143684510}"/>
    <dgm:cxn modelId="{EB16CED1-C855-4C13-8EE9-0F06B5872C71}" srcId="{CEA70AF5-31E5-42E5-88A8-9B59F4DB3F26}" destId="{7555BC95-DB43-4661-A0EC-0759B270399D}" srcOrd="4" destOrd="0" parTransId="{47097664-F150-4697-BF21-3EDBF3AEBBDA}" sibTransId="{A6439BF4-FE00-44CC-885C-26C8C2C88C2D}"/>
    <dgm:cxn modelId="{EA7E71E0-91BD-41DD-837E-3E480F000F04}" type="presOf" srcId="{344EA307-19A8-4219-BDDE-927FCF4057D1}" destId="{6AA25CC8-50CB-4EAC-B570-7A4763050D62}" srcOrd="0" destOrd="0" presId="urn:microsoft.com/office/officeart/2005/8/layout/hProcess11"/>
    <dgm:cxn modelId="{2B2E8FE7-7C0C-41F8-9647-4B2173274BB7}" type="presOf" srcId="{E2207466-B366-43F5-B88A-9C2CC49BB0D1}" destId="{24572827-8698-4771-B367-181F918F94A7}" srcOrd="0" destOrd="0" presId="urn:microsoft.com/office/officeart/2005/8/layout/hProcess11"/>
    <dgm:cxn modelId="{60E04EBD-72F7-4FC6-97EE-EAF47485D724}" type="presParOf" srcId="{E7B12A5D-6BBE-44D9-980B-09F5F16D87FC}" destId="{560848EA-1EF5-4562-8C16-851534E923D9}" srcOrd="0" destOrd="0" presId="urn:microsoft.com/office/officeart/2005/8/layout/hProcess11"/>
    <dgm:cxn modelId="{65E380FB-EE72-4007-8E96-9B0EE7404B2F}" type="presParOf" srcId="{E7B12A5D-6BBE-44D9-980B-09F5F16D87FC}" destId="{D7663871-EB29-4E2E-83DD-08824C3D3228}" srcOrd="1" destOrd="0" presId="urn:microsoft.com/office/officeart/2005/8/layout/hProcess11"/>
    <dgm:cxn modelId="{6282296A-28D3-4664-A00E-179CCAD15BD3}" type="presParOf" srcId="{D7663871-EB29-4E2E-83DD-08824C3D3228}" destId="{360267CD-DE20-4E70-B0DC-3D5D4CAD29E1}" srcOrd="0" destOrd="0" presId="urn:microsoft.com/office/officeart/2005/8/layout/hProcess11"/>
    <dgm:cxn modelId="{8087414C-85F0-4D87-BF72-8E1C930A5B47}" type="presParOf" srcId="{360267CD-DE20-4E70-B0DC-3D5D4CAD29E1}" destId="{280D72D4-F5C4-4FE3-9BAE-743D5297F478}" srcOrd="0" destOrd="0" presId="urn:microsoft.com/office/officeart/2005/8/layout/hProcess11"/>
    <dgm:cxn modelId="{FC580D2B-1F27-4EEC-894F-D74650E08BEE}" type="presParOf" srcId="{360267CD-DE20-4E70-B0DC-3D5D4CAD29E1}" destId="{D0254100-E1A3-4E68-B4E0-9CC26EF3FE92}" srcOrd="1" destOrd="0" presId="urn:microsoft.com/office/officeart/2005/8/layout/hProcess11"/>
    <dgm:cxn modelId="{FAA84559-3496-4812-9A19-AC9ABAD4526B}" type="presParOf" srcId="{360267CD-DE20-4E70-B0DC-3D5D4CAD29E1}" destId="{B6866BF4-D1DB-4BE0-8DD5-D5BB5FE21FD8}" srcOrd="2" destOrd="0" presId="urn:microsoft.com/office/officeart/2005/8/layout/hProcess11"/>
    <dgm:cxn modelId="{E1CC7222-0942-4D9A-9307-F402D6A7FD52}" type="presParOf" srcId="{D7663871-EB29-4E2E-83DD-08824C3D3228}" destId="{F3AC5A1C-3418-4323-ABCD-6F5E2ED3A5FC}" srcOrd="1" destOrd="0" presId="urn:microsoft.com/office/officeart/2005/8/layout/hProcess11"/>
    <dgm:cxn modelId="{BAE02808-F8E2-4657-A701-49827AEDA6CE}" type="presParOf" srcId="{D7663871-EB29-4E2E-83DD-08824C3D3228}" destId="{C5242142-C61D-4158-B605-FAFC357E8F20}" srcOrd="2" destOrd="0" presId="urn:microsoft.com/office/officeart/2005/8/layout/hProcess11"/>
    <dgm:cxn modelId="{4C9888A3-EA46-4521-AC74-674E7CEA6344}" type="presParOf" srcId="{C5242142-C61D-4158-B605-FAFC357E8F20}" destId="{6AA25CC8-50CB-4EAC-B570-7A4763050D62}" srcOrd="0" destOrd="0" presId="urn:microsoft.com/office/officeart/2005/8/layout/hProcess11"/>
    <dgm:cxn modelId="{5789146F-BC34-469B-9BE0-AF54D01DB411}" type="presParOf" srcId="{C5242142-C61D-4158-B605-FAFC357E8F20}" destId="{D99F0F81-C9EC-47E7-B018-44EAC138E69C}" srcOrd="1" destOrd="0" presId="urn:microsoft.com/office/officeart/2005/8/layout/hProcess11"/>
    <dgm:cxn modelId="{BA793BB9-5186-4E43-9A65-5957005C956B}" type="presParOf" srcId="{C5242142-C61D-4158-B605-FAFC357E8F20}" destId="{371AA6F7-1A10-4708-871A-1200F0860D13}" srcOrd="2" destOrd="0" presId="urn:microsoft.com/office/officeart/2005/8/layout/hProcess11"/>
    <dgm:cxn modelId="{007766C8-BA62-4E5B-BED8-7CE3E1464096}" type="presParOf" srcId="{D7663871-EB29-4E2E-83DD-08824C3D3228}" destId="{881243E6-559D-437E-8340-7B94B1F1C920}" srcOrd="3" destOrd="0" presId="urn:microsoft.com/office/officeart/2005/8/layout/hProcess11"/>
    <dgm:cxn modelId="{08288D4F-879F-474A-9111-1DBF75ECAA08}" type="presParOf" srcId="{D7663871-EB29-4E2E-83DD-08824C3D3228}" destId="{B3EBF250-AE2F-4955-8F47-71F008D045FD}" srcOrd="4" destOrd="0" presId="urn:microsoft.com/office/officeart/2005/8/layout/hProcess11"/>
    <dgm:cxn modelId="{82ED053E-7A72-4BCC-8810-3FBC1748E5BA}" type="presParOf" srcId="{B3EBF250-AE2F-4955-8F47-71F008D045FD}" destId="{C1AF7448-C155-4CD5-8240-588938C5D62C}" srcOrd="0" destOrd="0" presId="urn:microsoft.com/office/officeart/2005/8/layout/hProcess11"/>
    <dgm:cxn modelId="{308689B4-AA5E-4103-A459-C30752E6E2BD}" type="presParOf" srcId="{B3EBF250-AE2F-4955-8F47-71F008D045FD}" destId="{DE9BD1C8-52D9-4788-A519-6119FB74D1A1}" srcOrd="1" destOrd="0" presId="urn:microsoft.com/office/officeart/2005/8/layout/hProcess11"/>
    <dgm:cxn modelId="{B72D132E-CF00-41F0-80FD-1500E844331B}" type="presParOf" srcId="{B3EBF250-AE2F-4955-8F47-71F008D045FD}" destId="{4E29A95C-3874-4055-B40C-553E8E689749}" srcOrd="2" destOrd="0" presId="urn:microsoft.com/office/officeart/2005/8/layout/hProcess11"/>
    <dgm:cxn modelId="{B89BB1C0-574E-4F5F-A952-35214BAD6CE5}" type="presParOf" srcId="{D7663871-EB29-4E2E-83DD-08824C3D3228}" destId="{85B9A7CD-5BE8-409E-86D5-847CE55B24EC}" srcOrd="5" destOrd="0" presId="urn:microsoft.com/office/officeart/2005/8/layout/hProcess11"/>
    <dgm:cxn modelId="{9937B9BA-7816-4068-AAAB-ADF272057637}" type="presParOf" srcId="{D7663871-EB29-4E2E-83DD-08824C3D3228}" destId="{0AF2A5DF-921C-4977-8F30-1EA6B96D8FC7}" srcOrd="6" destOrd="0" presId="urn:microsoft.com/office/officeart/2005/8/layout/hProcess11"/>
    <dgm:cxn modelId="{1A586FDF-1A68-463A-B335-2EFB3F4A1019}" type="presParOf" srcId="{0AF2A5DF-921C-4977-8F30-1EA6B96D8FC7}" destId="{40596A71-8D1B-43D0-913D-49BE156936A5}" srcOrd="0" destOrd="0" presId="urn:microsoft.com/office/officeart/2005/8/layout/hProcess11"/>
    <dgm:cxn modelId="{B716A983-BA89-4789-AD4D-091E44989A11}" type="presParOf" srcId="{0AF2A5DF-921C-4977-8F30-1EA6B96D8FC7}" destId="{F220A696-D334-495B-977A-D8F8336CABA6}" srcOrd="1" destOrd="0" presId="urn:microsoft.com/office/officeart/2005/8/layout/hProcess11"/>
    <dgm:cxn modelId="{0565A005-5B67-4216-AB05-FF525DE48CBD}" type="presParOf" srcId="{0AF2A5DF-921C-4977-8F30-1EA6B96D8FC7}" destId="{5D21B1AA-8093-4BF6-A719-73105433E570}" srcOrd="2" destOrd="0" presId="urn:microsoft.com/office/officeart/2005/8/layout/hProcess11"/>
    <dgm:cxn modelId="{9056D72F-61DC-4917-AE39-8399F7392D07}" type="presParOf" srcId="{D7663871-EB29-4E2E-83DD-08824C3D3228}" destId="{B3067FF4-86EC-4389-B552-91900514CA46}" srcOrd="7" destOrd="0" presId="urn:microsoft.com/office/officeart/2005/8/layout/hProcess11"/>
    <dgm:cxn modelId="{DE3BCFB7-7F09-4A24-B233-1D72A5B4D536}" type="presParOf" srcId="{D7663871-EB29-4E2E-83DD-08824C3D3228}" destId="{E530DF7C-E2FA-454C-A75C-DBE8DDF9AE9B}" srcOrd="8" destOrd="0" presId="urn:microsoft.com/office/officeart/2005/8/layout/hProcess11"/>
    <dgm:cxn modelId="{D2A3987B-FA29-41DB-9AE1-F7DAAC17308B}" type="presParOf" srcId="{E530DF7C-E2FA-454C-A75C-DBE8DDF9AE9B}" destId="{170F01FD-CEE2-4975-A00A-100AE914C73D}" srcOrd="0" destOrd="0" presId="urn:microsoft.com/office/officeart/2005/8/layout/hProcess11"/>
    <dgm:cxn modelId="{75ECA0BF-B2EE-4643-87D8-F705D3E9A6C7}" type="presParOf" srcId="{E530DF7C-E2FA-454C-A75C-DBE8DDF9AE9B}" destId="{A3E764E6-A40B-4B49-9C5B-9CF6B894286E}" srcOrd="1" destOrd="0" presId="urn:microsoft.com/office/officeart/2005/8/layout/hProcess11"/>
    <dgm:cxn modelId="{04327E93-1853-46C4-AEC3-60FFBA515688}" type="presParOf" srcId="{E530DF7C-E2FA-454C-A75C-DBE8DDF9AE9B}" destId="{9535B6A4-5D69-41C2-8056-57B0E3DB13A5}" srcOrd="2" destOrd="0" presId="urn:microsoft.com/office/officeart/2005/8/layout/hProcess11"/>
    <dgm:cxn modelId="{8E58601E-D77B-4575-A88C-3926E5260112}" type="presParOf" srcId="{D7663871-EB29-4E2E-83DD-08824C3D3228}" destId="{33DA4CDA-C53B-425E-8FBC-ECB29E3A7E61}" srcOrd="9" destOrd="0" presId="urn:microsoft.com/office/officeart/2005/8/layout/hProcess11"/>
    <dgm:cxn modelId="{6A17D72A-A4CC-411D-BF30-6920D4C379CC}" type="presParOf" srcId="{D7663871-EB29-4E2E-83DD-08824C3D3228}" destId="{8835C5BF-DA8C-4679-921E-27155EABB271}" srcOrd="10" destOrd="0" presId="urn:microsoft.com/office/officeart/2005/8/layout/hProcess11"/>
    <dgm:cxn modelId="{53A1818F-CCAC-4264-82B9-063F669CDA1D}" type="presParOf" srcId="{8835C5BF-DA8C-4679-921E-27155EABB271}" destId="{24572827-8698-4771-B367-181F918F94A7}" srcOrd="0" destOrd="0" presId="urn:microsoft.com/office/officeart/2005/8/layout/hProcess11"/>
    <dgm:cxn modelId="{16BFB108-2BBE-4985-8185-4D2BB7BD313A}" type="presParOf" srcId="{8835C5BF-DA8C-4679-921E-27155EABB271}" destId="{6B0E457B-901C-4A1B-AA13-D9998DF9AC41}" srcOrd="1" destOrd="0" presId="urn:microsoft.com/office/officeart/2005/8/layout/hProcess11"/>
    <dgm:cxn modelId="{717A2EE5-ED7D-44DC-9846-4752AAC481A1}" type="presParOf" srcId="{8835C5BF-DA8C-4679-921E-27155EABB271}" destId="{5A8F0D00-CAC5-4E24-BC4F-F17584ACC7EC}"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E12369-55CA-4C15-8B2E-AF25CE4BA84B}"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AE0A3B82-C0CC-41BE-B9C3-D709423C07A4}">
      <dgm:prSet/>
      <dgm:spPr>
        <a:solidFill>
          <a:schemeClr val="tx1"/>
        </a:solidFill>
      </dgm:spPr>
      <dgm:t>
        <a:bodyPr/>
        <a:lstStyle/>
        <a:p>
          <a:r>
            <a:rPr lang="en-US" b="0" i="0" baseline="0" dirty="0"/>
            <a:t>Reuters — timeline, item list and arrests. </a:t>
          </a:r>
          <a:r>
            <a:rPr lang="en-US" dirty="0">
              <a:hlinkClick xmlns:r="http://schemas.openxmlformats.org/officeDocument/2006/relationships" r:id="rId1"/>
            </a:rPr>
            <a:t>Reuters+1</a:t>
          </a:r>
          <a:endParaRPr lang="en-US" dirty="0"/>
        </a:p>
      </dgm:t>
    </dgm:pt>
    <dgm:pt modelId="{E5F81F52-31F3-436B-BB1E-248B2B5DD957}" type="parTrans" cxnId="{8798B6EB-A48B-4323-B902-5BE83730E2EE}">
      <dgm:prSet/>
      <dgm:spPr/>
      <dgm:t>
        <a:bodyPr/>
        <a:lstStyle/>
        <a:p>
          <a:endParaRPr lang="en-US"/>
        </a:p>
      </dgm:t>
    </dgm:pt>
    <dgm:pt modelId="{1D6FFDD9-E783-4C2E-9B16-2D4A40F3CAA1}" type="sibTrans" cxnId="{8798B6EB-A48B-4323-B902-5BE83730E2EE}">
      <dgm:prSet/>
      <dgm:spPr/>
      <dgm:t>
        <a:bodyPr/>
        <a:lstStyle/>
        <a:p>
          <a:endParaRPr lang="en-US"/>
        </a:p>
      </dgm:t>
    </dgm:pt>
    <dgm:pt modelId="{D3E37EEF-A25B-4FDC-A947-60423CE5BCD0}">
      <dgm:prSet/>
      <dgm:spPr>
        <a:solidFill>
          <a:schemeClr val="tx1"/>
        </a:solidFill>
      </dgm:spPr>
      <dgm:t>
        <a:bodyPr/>
        <a:lstStyle/>
        <a:p>
          <a:r>
            <a:rPr lang="en-US" b="0" i="0" baseline="0" dirty="0"/>
            <a:t>AP — scene, cultural reaction, and investigation. </a:t>
          </a:r>
          <a:r>
            <a:rPr lang="en-US" b="0" i="0" baseline="0" dirty="0">
              <a:hlinkClick xmlns:r="http://schemas.openxmlformats.org/officeDocument/2006/relationships" r:id="rId2"/>
            </a:rPr>
            <a:t>AP News</a:t>
          </a:r>
          <a:endParaRPr lang="en-US" dirty="0"/>
        </a:p>
      </dgm:t>
    </dgm:pt>
    <dgm:pt modelId="{4A5F832A-8A72-42CF-BF7B-D2F22BD752F8}" type="parTrans" cxnId="{DEE68075-B6EC-4615-88A0-D37300B37782}">
      <dgm:prSet/>
      <dgm:spPr/>
      <dgm:t>
        <a:bodyPr/>
        <a:lstStyle/>
        <a:p>
          <a:endParaRPr lang="en-US"/>
        </a:p>
      </dgm:t>
    </dgm:pt>
    <dgm:pt modelId="{B1827E0B-6EF3-4FA1-9757-629BB84CF89D}" type="sibTrans" cxnId="{DEE68075-B6EC-4615-88A0-D37300B37782}">
      <dgm:prSet/>
      <dgm:spPr/>
      <dgm:t>
        <a:bodyPr/>
        <a:lstStyle/>
        <a:p>
          <a:endParaRPr lang="en-US"/>
        </a:p>
      </dgm:t>
    </dgm:pt>
    <dgm:pt modelId="{54C39980-0912-4F0D-AE07-A409B3E79C48}">
      <dgm:prSet/>
      <dgm:spPr>
        <a:solidFill>
          <a:schemeClr val="tx1"/>
        </a:solidFill>
      </dgm:spPr>
      <dgm:t>
        <a:bodyPr/>
        <a:lstStyle/>
        <a:p>
          <a:r>
            <a:rPr lang="en-US" b="0" i="0" baseline="0" dirty="0"/>
            <a:t>The Guardian — visual reconstruction and security critique. </a:t>
          </a:r>
          <a:r>
            <a:rPr lang="en-US" b="0" i="0" baseline="0" dirty="0">
              <a:hlinkClick xmlns:r="http://schemas.openxmlformats.org/officeDocument/2006/relationships" r:id="rId3"/>
            </a:rPr>
            <a:t>The Guardian</a:t>
          </a:r>
          <a:endParaRPr lang="en-US" dirty="0"/>
        </a:p>
      </dgm:t>
    </dgm:pt>
    <dgm:pt modelId="{48A9427F-7226-4E7A-A307-2297B66C33B1}" type="parTrans" cxnId="{D325DA59-0B90-452E-A264-A375641E0422}">
      <dgm:prSet/>
      <dgm:spPr/>
      <dgm:t>
        <a:bodyPr/>
        <a:lstStyle/>
        <a:p>
          <a:endParaRPr lang="en-US"/>
        </a:p>
      </dgm:t>
    </dgm:pt>
    <dgm:pt modelId="{8417882B-10C4-492A-B5A5-D0D8D39561D4}" type="sibTrans" cxnId="{D325DA59-0B90-452E-A264-A375641E0422}">
      <dgm:prSet/>
      <dgm:spPr/>
      <dgm:t>
        <a:bodyPr/>
        <a:lstStyle/>
        <a:p>
          <a:endParaRPr lang="en-US"/>
        </a:p>
      </dgm:t>
    </dgm:pt>
    <dgm:pt modelId="{C43DDB56-47CB-4859-8BC2-79B90938ADF1}">
      <dgm:prSet/>
      <dgm:spPr>
        <a:solidFill>
          <a:schemeClr val="tx1"/>
        </a:solidFill>
      </dgm:spPr>
      <dgm:t>
        <a:bodyPr/>
        <a:lstStyle/>
        <a:p>
          <a:r>
            <a:rPr lang="en-US" b="0" i="0" baseline="0" dirty="0"/>
            <a:t>Reuters (Bank of France transfer) — post-heist measures. </a:t>
          </a:r>
          <a:r>
            <a:rPr lang="en-US" b="0" i="0" baseline="0" dirty="0">
              <a:hlinkClick xmlns:r="http://schemas.openxmlformats.org/officeDocument/2006/relationships" r:id="rId4"/>
            </a:rPr>
            <a:t>Reuters</a:t>
          </a:r>
          <a:endParaRPr lang="en-US" dirty="0"/>
        </a:p>
      </dgm:t>
    </dgm:pt>
    <dgm:pt modelId="{BA3F6647-379F-4435-879D-C72FB3E8F242}" type="parTrans" cxnId="{94F1E630-8253-4029-AA2D-BB724E2A7C61}">
      <dgm:prSet/>
      <dgm:spPr/>
      <dgm:t>
        <a:bodyPr/>
        <a:lstStyle/>
        <a:p>
          <a:endParaRPr lang="en-US"/>
        </a:p>
      </dgm:t>
    </dgm:pt>
    <dgm:pt modelId="{B64300D5-884D-48D2-A49C-13135F2F08F7}" type="sibTrans" cxnId="{94F1E630-8253-4029-AA2D-BB724E2A7C61}">
      <dgm:prSet/>
      <dgm:spPr/>
      <dgm:t>
        <a:bodyPr/>
        <a:lstStyle/>
        <a:p>
          <a:endParaRPr lang="en-US"/>
        </a:p>
      </dgm:t>
    </dgm:pt>
    <dgm:pt modelId="{A55DCB1F-7A78-463E-9EA1-8D0993CD8628}">
      <dgm:prSet/>
      <dgm:spPr>
        <a:solidFill>
          <a:schemeClr val="tx1"/>
        </a:solidFill>
      </dgm:spPr>
      <dgm:t>
        <a:bodyPr/>
        <a:lstStyle/>
        <a:p>
          <a:r>
            <a:rPr lang="en-US" b="0" i="0" baseline="0" dirty="0"/>
            <a:t>Louvre / Galerie </a:t>
          </a:r>
          <a:r>
            <a:rPr lang="en-US" b="0" i="0" baseline="0" dirty="0" err="1"/>
            <a:t>d’Apollon</a:t>
          </a:r>
          <a:r>
            <a:rPr lang="en-US" b="0" i="0" baseline="0" dirty="0"/>
            <a:t> (official pages) — context on the gallery &amp; jewels.</a:t>
          </a:r>
          <a:endParaRPr lang="en-US" dirty="0"/>
        </a:p>
      </dgm:t>
    </dgm:pt>
    <dgm:pt modelId="{4BA3C3F0-BD7B-47DE-AF67-5DE47974165D}" type="parTrans" cxnId="{4B883E77-0EC6-46CF-95F6-8FCA0DEDF559}">
      <dgm:prSet/>
      <dgm:spPr/>
      <dgm:t>
        <a:bodyPr/>
        <a:lstStyle/>
        <a:p>
          <a:endParaRPr lang="en-US"/>
        </a:p>
      </dgm:t>
    </dgm:pt>
    <dgm:pt modelId="{D29FA2F5-FCEF-46BF-8C4C-32AA5C3481C9}" type="sibTrans" cxnId="{4B883E77-0EC6-46CF-95F6-8FCA0DEDF559}">
      <dgm:prSet/>
      <dgm:spPr/>
      <dgm:t>
        <a:bodyPr/>
        <a:lstStyle/>
        <a:p>
          <a:endParaRPr lang="en-US"/>
        </a:p>
      </dgm:t>
    </dgm:pt>
    <dgm:pt modelId="{6B17FD47-2C56-4E55-B36B-5B1BCCC34548}" type="pres">
      <dgm:prSet presAssocID="{78E12369-55CA-4C15-8B2E-AF25CE4BA84B}" presName="CompostProcess" presStyleCnt="0">
        <dgm:presLayoutVars>
          <dgm:dir/>
          <dgm:resizeHandles val="exact"/>
        </dgm:presLayoutVars>
      </dgm:prSet>
      <dgm:spPr/>
    </dgm:pt>
    <dgm:pt modelId="{1EF923F5-CB92-479C-9C3E-BC803822F7E2}" type="pres">
      <dgm:prSet presAssocID="{78E12369-55CA-4C15-8B2E-AF25CE4BA84B}" presName="arrow" presStyleLbl="bgShp" presStyleIdx="0" presStyleCnt="1"/>
      <dgm:spPr/>
    </dgm:pt>
    <dgm:pt modelId="{EF67AFCB-938C-4E56-A776-F9886B635A3F}" type="pres">
      <dgm:prSet presAssocID="{78E12369-55CA-4C15-8B2E-AF25CE4BA84B}" presName="linearProcess" presStyleCnt="0"/>
      <dgm:spPr/>
    </dgm:pt>
    <dgm:pt modelId="{0DE88CE4-2178-48D6-AD67-8E8EF403F2BC}" type="pres">
      <dgm:prSet presAssocID="{AE0A3B82-C0CC-41BE-B9C3-D709423C07A4}" presName="textNode" presStyleLbl="node1" presStyleIdx="0" presStyleCnt="5">
        <dgm:presLayoutVars>
          <dgm:bulletEnabled val="1"/>
        </dgm:presLayoutVars>
      </dgm:prSet>
      <dgm:spPr/>
    </dgm:pt>
    <dgm:pt modelId="{ABD64DA5-37D3-4429-95BC-D8696CBEFD22}" type="pres">
      <dgm:prSet presAssocID="{1D6FFDD9-E783-4C2E-9B16-2D4A40F3CAA1}" presName="sibTrans" presStyleCnt="0"/>
      <dgm:spPr/>
    </dgm:pt>
    <dgm:pt modelId="{8AFE0952-F4A6-4EE4-BF59-BBC975A2CE5C}" type="pres">
      <dgm:prSet presAssocID="{D3E37EEF-A25B-4FDC-A947-60423CE5BCD0}" presName="textNode" presStyleLbl="node1" presStyleIdx="1" presStyleCnt="5">
        <dgm:presLayoutVars>
          <dgm:bulletEnabled val="1"/>
        </dgm:presLayoutVars>
      </dgm:prSet>
      <dgm:spPr/>
    </dgm:pt>
    <dgm:pt modelId="{4D54BCE1-D468-46EC-B313-024CED30D9EE}" type="pres">
      <dgm:prSet presAssocID="{B1827E0B-6EF3-4FA1-9757-629BB84CF89D}" presName="sibTrans" presStyleCnt="0"/>
      <dgm:spPr/>
    </dgm:pt>
    <dgm:pt modelId="{453DF642-78A2-4ED2-940D-52F3CD6AC08E}" type="pres">
      <dgm:prSet presAssocID="{54C39980-0912-4F0D-AE07-A409B3E79C48}" presName="textNode" presStyleLbl="node1" presStyleIdx="2" presStyleCnt="5">
        <dgm:presLayoutVars>
          <dgm:bulletEnabled val="1"/>
        </dgm:presLayoutVars>
      </dgm:prSet>
      <dgm:spPr/>
    </dgm:pt>
    <dgm:pt modelId="{AE4BD39D-8883-4A9A-8B70-F12026F632AD}" type="pres">
      <dgm:prSet presAssocID="{8417882B-10C4-492A-B5A5-D0D8D39561D4}" presName="sibTrans" presStyleCnt="0"/>
      <dgm:spPr/>
    </dgm:pt>
    <dgm:pt modelId="{24BCACF5-55C4-44C0-836E-8C9DF4BDD3D2}" type="pres">
      <dgm:prSet presAssocID="{C43DDB56-47CB-4859-8BC2-79B90938ADF1}" presName="textNode" presStyleLbl="node1" presStyleIdx="3" presStyleCnt="5">
        <dgm:presLayoutVars>
          <dgm:bulletEnabled val="1"/>
        </dgm:presLayoutVars>
      </dgm:prSet>
      <dgm:spPr/>
    </dgm:pt>
    <dgm:pt modelId="{5E79587E-AD25-4BC8-BDFF-2C1E17FC3082}" type="pres">
      <dgm:prSet presAssocID="{B64300D5-884D-48D2-A49C-13135F2F08F7}" presName="sibTrans" presStyleCnt="0"/>
      <dgm:spPr/>
    </dgm:pt>
    <dgm:pt modelId="{8580C9E9-7D7D-4B6B-811E-248907569A60}" type="pres">
      <dgm:prSet presAssocID="{A55DCB1F-7A78-463E-9EA1-8D0993CD8628}" presName="textNode" presStyleLbl="node1" presStyleIdx="4" presStyleCnt="5">
        <dgm:presLayoutVars>
          <dgm:bulletEnabled val="1"/>
        </dgm:presLayoutVars>
      </dgm:prSet>
      <dgm:spPr/>
    </dgm:pt>
  </dgm:ptLst>
  <dgm:cxnLst>
    <dgm:cxn modelId="{40839418-1857-451D-9595-4465FF07FDDD}" type="presOf" srcId="{78E12369-55CA-4C15-8B2E-AF25CE4BA84B}" destId="{6B17FD47-2C56-4E55-B36B-5B1BCCC34548}" srcOrd="0" destOrd="0" presId="urn:microsoft.com/office/officeart/2005/8/layout/hProcess9"/>
    <dgm:cxn modelId="{49C7251D-999B-45CA-87F7-6DD61720A7B7}" type="presOf" srcId="{AE0A3B82-C0CC-41BE-B9C3-D709423C07A4}" destId="{0DE88CE4-2178-48D6-AD67-8E8EF403F2BC}" srcOrd="0" destOrd="0" presId="urn:microsoft.com/office/officeart/2005/8/layout/hProcess9"/>
    <dgm:cxn modelId="{94F1E630-8253-4029-AA2D-BB724E2A7C61}" srcId="{78E12369-55CA-4C15-8B2E-AF25CE4BA84B}" destId="{C43DDB56-47CB-4859-8BC2-79B90938ADF1}" srcOrd="3" destOrd="0" parTransId="{BA3F6647-379F-4435-879D-C72FB3E8F242}" sibTransId="{B64300D5-884D-48D2-A49C-13135F2F08F7}"/>
    <dgm:cxn modelId="{DEE68075-B6EC-4615-88A0-D37300B37782}" srcId="{78E12369-55CA-4C15-8B2E-AF25CE4BA84B}" destId="{D3E37EEF-A25B-4FDC-A947-60423CE5BCD0}" srcOrd="1" destOrd="0" parTransId="{4A5F832A-8A72-42CF-BF7B-D2F22BD752F8}" sibTransId="{B1827E0B-6EF3-4FA1-9757-629BB84CF89D}"/>
    <dgm:cxn modelId="{4B883E77-0EC6-46CF-95F6-8FCA0DEDF559}" srcId="{78E12369-55CA-4C15-8B2E-AF25CE4BA84B}" destId="{A55DCB1F-7A78-463E-9EA1-8D0993CD8628}" srcOrd="4" destOrd="0" parTransId="{4BA3C3F0-BD7B-47DE-AF67-5DE47974165D}" sibTransId="{D29FA2F5-FCEF-46BF-8C4C-32AA5C3481C9}"/>
    <dgm:cxn modelId="{D325DA59-0B90-452E-A264-A375641E0422}" srcId="{78E12369-55CA-4C15-8B2E-AF25CE4BA84B}" destId="{54C39980-0912-4F0D-AE07-A409B3E79C48}" srcOrd="2" destOrd="0" parTransId="{48A9427F-7226-4E7A-A307-2297B66C33B1}" sibTransId="{8417882B-10C4-492A-B5A5-D0D8D39561D4}"/>
    <dgm:cxn modelId="{AC204881-E08C-4BF1-87AF-8957824C7FED}" type="presOf" srcId="{D3E37EEF-A25B-4FDC-A947-60423CE5BCD0}" destId="{8AFE0952-F4A6-4EE4-BF59-BBC975A2CE5C}" srcOrd="0" destOrd="0" presId="urn:microsoft.com/office/officeart/2005/8/layout/hProcess9"/>
    <dgm:cxn modelId="{FDB10C90-746C-482B-B04E-D6BCE388FEE9}" type="presOf" srcId="{A55DCB1F-7A78-463E-9EA1-8D0993CD8628}" destId="{8580C9E9-7D7D-4B6B-811E-248907569A60}" srcOrd="0" destOrd="0" presId="urn:microsoft.com/office/officeart/2005/8/layout/hProcess9"/>
    <dgm:cxn modelId="{1E2195B3-8D71-4C1C-A4F6-A04D48E6BDE5}" type="presOf" srcId="{54C39980-0912-4F0D-AE07-A409B3E79C48}" destId="{453DF642-78A2-4ED2-940D-52F3CD6AC08E}" srcOrd="0" destOrd="0" presId="urn:microsoft.com/office/officeart/2005/8/layout/hProcess9"/>
    <dgm:cxn modelId="{8798B6EB-A48B-4323-B902-5BE83730E2EE}" srcId="{78E12369-55CA-4C15-8B2E-AF25CE4BA84B}" destId="{AE0A3B82-C0CC-41BE-B9C3-D709423C07A4}" srcOrd="0" destOrd="0" parTransId="{E5F81F52-31F3-436B-BB1E-248B2B5DD957}" sibTransId="{1D6FFDD9-E783-4C2E-9B16-2D4A40F3CAA1}"/>
    <dgm:cxn modelId="{90DCE0EE-8CD0-464F-A471-F54264074238}" type="presOf" srcId="{C43DDB56-47CB-4859-8BC2-79B90938ADF1}" destId="{24BCACF5-55C4-44C0-836E-8C9DF4BDD3D2}" srcOrd="0" destOrd="0" presId="urn:microsoft.com/office/officeart/2005/8/layout/hProcess9"/>
    <dgm:cxn modelId="{627FE2B9-1CE5-4FD3-A93C-76F9C3729CC5}" type="presParOf" srcId="{6B17FD47-2C56-4E55-B36B-5B1BCCC34548}" destId="{1EF923F5-CB92-479C-9C3E-BC803822F7E2}" srcOrd="0" destOrd="0" presId="urn:microsoft.com/office/officeart/2005/8/layout/hProcess9"/>
    <dgm:cxn modelId="{37DE185A-AB6E-4D32-9807-09A0C7F1A302}" type="presParOf" srcId="{6B17FD47-2C56-4E55-B36B-5B1BCCC34548}" destId="{EF67AFCB-938C-4E56-A776-F9886B635A3F}" srcOrd="1" destOrd="0" presId="urn:microsoft.com/office/officeart/2005/8/layout/hProcess9"/>
    <dgm:cxn modelId="{DCCC761A-D78A-4038-9680-D242BCAC13CF}" type="presParOf" srcId="{EF67AFCB-938C-4E56-A776-F9886B635A3F}" destId="{0DE88CE4-2178-48D6-AD67-8E8EF403F2BC}" srcOrd="0" destOrd="0" presId="urn:microsoft.com/office/officeart/2005/8/layout/hProcess9"/>
    <dgm:cxn modelId="{D620B7BF-C215-447F-8DD9-B7638B2497BB}" type="presParOf" srcId="{EF67AFCB-938C-4E56-A776-F9886B635A3F}" destId="{ABD64DA5-37D3-4429-95BC-D8696CBEFD22}" srcOrd="1" destOrd="0" presId="urn:microsoft.com/office/officeart/2005/8/layout/hProcess9"/>
    <dgm:cxn modelId="{EFA90369-2380-4A32-98AC-E123889A43AB}" type="presParOf" srcId="{EF67AFCB-938C-4E56-A776-F9886B635A3F}" destId="{8AFE0952-F4A6-4EE4-BF59-BBC975A2CE5C}" srcOrd="2" destOrd="0" presId="urn:microsoft.com/office/officeart/2005/8/layout/hProcess9"/>
    <dgm:cxn modelId="{FEE0C4D6-4AB8-4741-84D7-3DBC766E4C01}" type="presParOf" srcId="{EF67AFCB-938C-4E56-A776-F9886B635A3F}" destId="{4D54BCE1-D468-46EC-B313-024CED30D9EE}" srcOrd="3" destOrd="0" presId="urn:microsoft.com/office/officeart/2005/8/layout/hProcess9"/>
    <dgm:cxn modelId="{6E1B2B45-9C3E-4E11-A89F-23A1F5639FFE}" type="presParOf" srcId="{EF67AFCB-938C-4E56-A776-F9886B635A3F}" destId="{453DF642-78A2-4ED2-940D-52F3CD6AC08E}" srcOrd="4" destOrd="0" presId="urn:microsoft.com/office/officeart/2005/8/layout/hProcess9"/>
    <dgm:cxn modelId="{E143AD46-09FF-4CA5-A5E5-492F4759F8BE}" type="presParOf" srcId="{EF67AFCB-938C-4E56-A776-F9886B635A3F}" destId="{AE4BD39D-8883-4A9A-8B70-F12026F632AD}" srcOrd="5" destOrd="0" presId="urn:microsoft.com/office/officeart/2005/8/layout/hProcess9"/>
    <dgm:cxn modelId="{AC420633-B1A4-4A5D-BAC9-8C7C0127F444}" type="presParOf" srcId="{EF67AFCB-938C-4E56-A776-F9886B635A3F}" destId="{24BCACF5-55C4-44C0-836E-8C9DF4BDD3D2}" srcOrd="6" destOrd="0" presId="urn:microsoft.com/office/officeart/2005/8/layout/hProcess9"/>
    <dgm:cxn modelId="{3257E193-A06E-4F46-B347-BCED6B846B70}" type="presParOf" srcId="{EF67AFCB-938C-4E56-A776-F9886B635A3F}" destId="{5E79587E-AD25-4BC8-BDFF-2C1E17FC3082}" srcOrd="7" destOrd="0" presId="urn:microsoft.com/office/officeart/2005/8/layout/hProcess9"/>
    <dgm:cxn modelId="{0E11C008-5BCB-435E-BE91-CF6D967DB1BD}" type="presParOf" srcId="{EF67AFCB-938C-4E56-A776-F9886B635A3F}" destId="{8580C9E9-7D7D-4B6B-811E-248907569A60}"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0848EA-1EF5-4562-8C16-851534E923D9}">
      <dsp:nvSpPr>
        <dsp:cNvPr id="0" name=""/>
        <dsp:cNvSpPr/>
      </dsp:nvSpPr>
      <dsp:spPr>
        <a:xfrm>
          <a:off x="0" y="1198050"/>
          <a:ext cx="7195694" cy="159740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0D72D4-F5C4-4FE3-9BAE-743D5297F478}">
      <dsp:nvSpPr>
        <dsp:cNvPr id="0" name=""/>
        <dsp:cNvSpPr/>
      </dsp:nvSpPr>
      <dsp:spPr>
        <a:xfrm>
          <a:off x="1778" y="0"/>
          <a:ext cx="1035610" cy="159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a:t>1) Title slide</a:t>
          </a:r>
        </a:p>
      </dsp:txBody>
      <dsp:txXfrm>
        <a:off x="1778" y="0"/>
        <a:ext cx="1035610" cy="1597400"/>
      </dsp:txXfrm>
    </dsp:sp>
    <dsp:sp modelId="{D0254100-E1A3-4E68-B4E0-9CC26EF3FE92}">
      <dsp:nvSpPr>
        <dsp:cNvPr id="0" name=""/>
        <dsp:cNvSpPr/>
      </dsp:nvSpPr>
      <dsp:spPr>
        <a:xfrm>
          <a:off x="319908" y="1797075"/>
          <a:ext cx="399350" cy="399350"/>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A25CC8-50CB-4EAC-B570-7A4763050D62}">
      <dsp:nvSpPr>
        <dsp:cNvPr id="0" name=""/>
        <dsp:cNvSpPr/>
      </dsp:nvSpPr>
      <dsp:spPr>
        <a:xfrm>
          <a:off x="1089170" y="2396101"/>
          <a:ext cx="1035610" cy="159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a:t>2) A summary of events</a:t>
          </a:r>
          <a:br>
            <a:rPr lang="en-US" sz="1100" kern="1200"/>
          </a:br>
          <a:r>
            <a:rPr lang="en-US" sz="1100" kern="1200"/>
            <a:t>3) The target</a:t>
          </a:r>
        </a:p>
      </dsp:txBody>
      <dsp:txXfrm>
        <a:off x="1089170" y="2396101"/>
        <a:ext cx="1035610" cy="1597400"/>
      </dsp:txXfrm>
    </dsp:sp>
    <dsp:sp modelId="{D99F0F81-C9EC-47E7-B018-44EAC138E69C}">
      <dsp:nvSpPr>
        <dsp:cNvPr id="0" name=""/>
        <dsp:cNvSpPr/>
      </dsp:nvSpPr>
      <dsp:spPr>
        <a:xfrm>
          <a:off x="1407300" y="1797075"/>
          <a:ext cx="399350" cy="399350"/>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AF7448-C155-4CD5-8240-588938C5D62C}">
      <dsp:nvSpPr>
        <dsp:cNvPr id="0" name=""/>
        <dsp:cNvSpPr/>
      </dsp:nvSpPr>
      <dsp:spPr>
        <a:xfrm>
          <a:off x="2176561" y="0"/>
          <a:ext cx="1035610" cy="159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t>4) Chronological timeline</a:t>
          </a:r>
          <a:br>
            <a:rPr lang="en-US" sz="1100" kern="1200" dirty="0"/>
          </a:br>
          <a:r>
            <a:rPr lang="en-US" sz="1100" kern="1200" dirty="0"/>
            <a:t>5) Exact items stolen</a:t>
          </a:r>
        </a:p>
      </dsp:txBody>
      <dsp:txXfrm>
        <a:off x="2176561" y="0"/>
        <a:ext cx="1035610" cy="1597400"/>
      </dsp:txXfrm>
    </dsp:sp>
    <dsp:sp modelId="{DE9BD1C8-52D9-4788-A519-6119FB74D1A1}">
      <dsp:nvSpPr>
        <dsp:cNvPr id="0" name=""/>
        <dsp:cNvSpPr/>
      </dsp:nvSpPr>
      <dsp:spPr>
        <a:xfrm>
          <a:off x="2494691" y="1797075"/>
          <a:ext cx="399350" cy="399350"/>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596A71-8D1B-43D0-913D-49BE156936A5}">
      <dsp:nvSpPr>
        <dsp:cNvPr id="0" name=""/>
        <dsp:cNvSpPr/>
      </dsp:nvSpPr>
      <dsp:spPr>
        <a:xfrm>
          <a:off x="3263952" y="2396101"/>
          <a:ext cx="1035610" cy="159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a:t>6) How they did it: methods &amp; tools</a:t>
          </a:r>
        </a:p>
      </dsp:txBody>
      <dsp:txXfrm>
        <a:off x="3263952" y="2396101"/>
        <a:ext cx="1035610" cy="1597400"/>
      </dsp:txXfrm>
    </dsp:sp>
    <dsp:sp modelId="{F220A696-D334-495B-977A-D8F8336CABA6}">
      <dsp:nvSpPr>
        <dsp:cNvPr id="0" name=""/>
        <dsp:cNvSpPr/>
      </dsp:nvSpPr>
      <dsp:spPr>
        <a:xfrm>
          <a:off x="3582082" y="1797075"/>
          <a:ext cx="399350" cy="399350"/>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0F01FD-CEE2-4975-A00A-100AE914C73D}">
      <dsp:nvSpPr>
        <dsp:cNvPr id="0" name=""/>
        <dsp:cNvSpPr/>
      </dsp:nvSpPr>
      <dsp:spPr>
        <a:xfrm>
          <a:off x="4351343" y="0"/>
          <a:ext cx="1035610" cy="159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t>7) Investigation progress &amp; arrests</a:t>
          </a:r>
          <a:br>
            <a:rPr lang="en-US" sz="1100" kern="1200" dirty="0"/>
          </a:br>
          <a:r>
            <a:rPr lang="en-US" sz="1100" kern="1200" dirty="0"/>
            <a:t>8) Media coverage and public perception</a:t>
          </a:r>
        </a:p>
      </dsp:txBody>
      <dsp:txXfrm>
        <a:off x="4351343" y="0"/>
        <a:ext cx="1035610" cy="1597400"/>
      </dsp:txXfrm>
    </dsp:sp>
    <dsp:sp modelId="{A3E764E6-A40B-4B49-9C5B-9CF6B894286E}">
      <dsp:nvSpPr>
        <dsp:cNvPr id="0" name=""/>
        <dsp:cNvSpPr/>
      </dsp:nvSpPr>
      <dsp:spPr>
        <a:xfrm>
          <a:off x="4669474" y="1797075"/>
          <a:ext cx="399350" cy="399350"/>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572827-8698-4771-B367-181F918F94A7}">
      <dsp:nvSpPr>
        <dsp:cNvPr id="0" name=""/>
        <dsp:cNvSpPr/>
      </dsp:nvSpPr>
      <dsp:spPr>
        <a:xfrm>
          <a:off x="5438735" y="2396101"/>
          <a:ext cx="1035610" cy="159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a:t>9) Sources &amp; further reading</a:t>
          </a:r>
        </a:p>
      </dsp:txBody>
      <dsp:txXfrm>
        <a:off x="5438735" y="2396101"/>
        <a:ext cx="1035610" cy="1597400"/>
      </dsp:txXfrm>
    </dsp:sp>
    <dsp:sp modelId="{6B0E457B-901C-4A1B-AA13-D9998DF9AC41}">
      <dsp:nvSpPr>
        <dsp:cNvPr id="0" name=""/>
        <dsp:cNvSpPr/>
      </dsp:nvSpPr>
      <dsp:spPr>
        <a:xfrm>
          <a:off x="5756865" y="1797075"/>
          <a:ext cx="399350" cy="399350"/>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923F5-CB92-479C-9C3E-BC803822F7E2}">
      <dsp:nvSpPr>
        <dsp:cNvPr id="0" name=""/>
        <dsp:cNvSpPr/>
      </dsp:nvSpPr>
      <dsp:spPr>
        <a:xfrm>
          <a:off x="720328" y="0"/>
          <a:ext cx="8163718" cy="372322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E88CE4-2178-48D6-AD67-8E8EF403F2BC}">
      <dsp:nvSpPr>
        <dsp:cNvPr id="0" name=""/>
        <dsp:cNvSpPr/>
      </dsp:nvSpPr>
      <dsp:spPr>
        <a:xfrm>
          <a:off x="4220" y="1116968"/>
          <a:ext cx="1845371" cy="1489290"/>
        </a:xfrm>
        <a:prstGeom prst="roundRect">
          <a:avLst/>
        </a:prstGeom>
        <a:solidFill>
          <a:schemeClr val="tx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baseline="0" dirty="0"/>
            <a:t>Reuters — timeline, item list and arrests. </a:t>
          </a:r>
          <a:r>
            <a:rPr lang="en-US" sz="1600" kern="1200" dirty="0">
              <a:hlinkClick xmlns:r="http://schemas.openxmlformats.org/officeDocument/2006/relationships" r:id="rId1"/>
            </a:rPr>
            <a:t>Reuters+1</a:t>
          </a:r>
          <a:endParaRPr lang="en-US" sz="1600" kern="1200" dirty="0"/>
        </a:p>
      </dsp:txBody>
      <dsp:txXfrm>
        <a:off x="76921" y="1189669"/>
        <a:ext cx="1699969" cy="1343888"/>
      </dsp:txXfrm>
    </dsp:sp>
    <dsp:sp modelId="{8AFE0952-F4A6-4EE4-BF59-BBC975A2CE5C}">
      <dsp:nvSpPr>
        <dsp:cNvPr id="0" name=""/>
        <dsp:cNvSpPr/>
      </dsp:nvSpPr>
      <dsp:spPr>
        <a:xfrm>
          <a:off x="1941861" y="1116968"/>
          <a:ext cx="1845371" cy="1489290"/>
        </a:xfrm>
        <a:prstGeom prst="roundRect">
          <a:avLst/>
        </a:prstGeom>
        <a:solidFill>
          <a:schemeClr val="tx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baseline="0" dirty="0"/>
            <a:t>AP — scene, cultural reaction, and investigation. </a:t>
          </a:r>
          <a:r>
            <a:rPr lang="en-US" sz="1600" b="0" i="0" kern="1200" baseline="0" dirty="0">
              <a:hlinkClick xmlns:r="http://schemas.openxmlformats.org/officeDocument/2006/relationships" r:id="rId2"/>
            </a:rPr>
            <a:t>AP News</a:t>
          </a:r>
          <a:endParaRPr lang="en-US" sz="1600" kern="1200" dirty="0"/>
        </a:p>
      </dsp:txBody>
      <dsp:txXfrm>
        <a:off x="2014562" y="1189669"/>
        <a:ext cx="1699969" cy="1343888"/>
      </dsp:txXfrm>
    </dsp:sp>
    <dsp:sp modelId="{453DF642-78A2-4ED2-940D-52F3CD6AC08E}">
      <dsp:nvSpPr>
        <dsp:cNvPr id="0" name=""/>
        <dsp:cNvSpPr/>
      </dsp:nvSpPr>
      <dsp:spPr>
        <a:xfrm>
          <a:off x="3879501" y="1116968"/>
          <a:ext cx="1845371" cy="1489290"/>
        </a:xfrm>
        <a:prstGeom prst="roundRect">
          <a:avLst/>
        </a:prstGeom>
        <a:solidFill>
          <a:schemeClr val="tx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baseline="0" dirty="0"/>
            <a:t>The Guardian — visual reconstruction and security critique. </a:t>
          </a:r>
          <a:r>
            <a:rPr lang="en-US" sz="1600" b="0" i="0" kern="1200" baseline="0" dirty="0">
              <a:hlinkClick xmlns:r="http://schemas.openxmlformats.org/officeDocument/2006/relationships" r:id="rId3"/>
            </a:rPr>
            <a:t>The Guardian</a:t>
          </a:r>
          <a:endParaRPr lang="en-US" sz="1600" kern="1200" dirty="0"/>
        </a:p>
      </dsp:txBody>
      <dsp:txXfrm>
        <a:off x="3952202" y="1189669"/>
        <a:ext cx="1699969" cy="1343888"/>
      </dsp:txXfrm>
    </dsp:sp>
    <dsp:sp modelId="{24BCACF5-55C4-44C0-836E-8C9DF4BDD3D2}">
      <dsp:nvSpPr>
        <dsp:cNvPr id="0" name=""/>
        <dsp:cNvSpPr/>
      </dsp:nvSpPr>
      <dsp:spPr>
        <a:xfrm>
          <a:off x="5817142" y="1116968"/>
          <a:ext cx="1845371" cy="1489290"/>
        </a:xfrm>
        <a:prstGeom prst="roundRect">
          <a:avLst/>
        </a:prstGeom>
        <a:solidFill>
          <a:schemeClr val="tx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baseline="0" dirty="0"/>
            <a:t>Reuters (Bank of France transfer) — post-heist measures. </a:t>
          </a:r>
          <a:r>
            <a:rPr lang="en-US" sz="1600" b="0" i="0" kern="1200" baseline="0" dirty="0">
              <a:hlinkClick xmlns:r="http://schemas.openxmlformats.org/officeDocument/2006/relationships" r:id="rId4"/>
            </a:rPr>
            <a:t>Reuters</a:t>
          </a:r>
          <a:endParaRPr lang="en-US" sz="1600" kern="1200" dirty="0"/>
        </a:p>
      </dsp:txBody>
      <dsp:txXfrm>
        <a:off x="5889843" y="1189669"/>
        <a:ext cx="1699969" cy="1343888"/>
      </dsp:txXfrm>
    </dsp:sp>
    <dsp:sp modelId="{8580C9E9-7D7D-4B6B-811E-248907569A60}">
      <dsp:nvSpPr>
        <dsp:cNvPr id="0" name=""/>
        <dsp:cNvSpPr/>
      </dsp:nvSpPr>
      <dsp:spPr>
        <a:xfrm>
          <a:off x="7754782" y="1116968"/>
          <a:ext cx="1845371" cy="1489290"/>
        </a:xfrm>
        <a:prstGeom prst="roundRect">
          <a:avLst/>
        </a:prstGeom>
        <a:solidFill>
          <a:schemeClr val="tx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baseline="0" dirty="0"/>
            <a:t>Louvre / Galerie </a:t>
          </a:r>
          <a:r>
            <a:rPr lang="en-US" sz="1600" b="0" i="0" kern="1200" baseline="0" dirty="0" err="1"/>
            <a:t>d’Apollon</a:t>
          </a:r>
          <a:r>
            <a:rPr lang="en-US" sz="1600" b="0" i="0" kern="1200" baseline="0" dirty="0"/>
            <a:t> (official pages) — context on the gallery &amp; jewels.</a:t>
          </a:r>
          <a:endParaRPr lang="en-US" sz="1600" kern="1200" dirty="0"/>
        </a:p>
      </dsp:txBody>
      <dsp:txXfrm>
        <a:off x="7827483" y="1189669"/>
        <a:ext cx="1699969" cy="134388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601408-ECD3-47F5-9E23-546C4FACC44E}" type="datetimeFigureOut">
              <a:rPr lang="en-US" smtClean="0"/>
              <a:t>10/28/2025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EABBF1C9-57C6-47E2-B742-6F67A1C873E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2132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601408-ECD3-47F5-9E23-546C4FACC44E}"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BF1C9-57C6-47E2-B742-6F67A1C873E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7804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601408-ECD3-47F5-9E23-546C4FACC44E}"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BF1C9-57C6-47E2-B742-6F67A1C873E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11008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601408-ECD3-47F5-9E23-546C4FACC44E}"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BBF1C9-57C6-47E2-B742-6F67A1C873E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6251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601408-ECD3-47F5-9E23-546C4FACC44E}" type="datetimeFigureOut">
              <a:rPr lang="en-US" smtClean="0"/>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BBF1C9-57C6-47E2-B742-6F67A1C873E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2817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601408-ECD3-47F5-9E23-546C4FACC44E}" type="datetimeFigureOut">
              <a:rPr lang="en-US" smtClean="0"/>
              <a:t>10/28/2025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BBF1C9-57C6-47E2-B742-6F67A1C873E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9579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01408-ECD3-47F5-9E23-546C4FACC44E}" type="datetimeFigureOut">
              <a:rPr lang="en-US" smtClean="0"/>
              <a:t>10/28/2025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BBF1C9-57C6-47E2-B742-6F67A1C873E7}" type="slidenum">
              <a:rPr lang="en-US" smtClean="0"/>
              <a:t>‹#›</a:t>
            </a:fld>
            <a:endParaRPr lang="en-US"/>
          </a:p>
        </p:txBody>
      </p:sp>
    </p:spTree>
    <p:extLst>
      <p:ext uri="{BB962C8B-B14F-4D97-AF65-F5344CB8AC3E}">
        <p14:creationId xmlns:p14="http://schemas.microsoft.com/office/powerpoint/2010/main" val="1283069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601408-ECD3-47F5-9E23-546C4FACC44E}"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BBF1C9-57C6-47E2-B742-6F67A1C873E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1872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4601408-ECD3-47F5-9E23-546C4FACC44E}" type="datetimeFigureOut">
              <a:rPr lang="en-US" smtClean="0"/>
              <a:t>10/28/2025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EABBF1C9-57C6-47E2-B742-6F67A1C873E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83761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601408-ECD3-47F5-9E23-546C4FACC44E}"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BF1C9-57C6-47E2-B742-6F67A1C873E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080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601408-ECD3-47F5-9E23-546C4FACC44E}"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BF1C9-57C6-47E2-B742-6F67A1C873E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852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4601408-ECD3-47F5-9E23-546C4FACC44E}" type="datetimeFigureOut">
              <a:rPr lang="en-US" smtClean="0"/>
              <a:t>10/28/2025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ABBF1C9-57C6-47E2-B742-6F67A1C873E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333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6" name="Picture 5" descr="A room with art on the ceiling">
            <a:extLst>
              <a:ext uri="{FF2B5EF4-FFF2-40B4-BE49-F238E27FC236}">
                <a16:creationId xmlns:a16="http://schemas.microsoft.com/office/drawing/2014/main" id="{7A8E6D0B-E646-AA17-9A7A-4EC6924145CC}"/>
              </a:ext>
            </a:extLst>
          </p:cNvPr>
          <p:cNvPicPr>
            <a:picLocks noChangeAspect="1"/>
          </p:cNvPicPr>
          <p:nvPr/>
        </p:nvPicPr>
        <p:blipFill>
          <a:blip r:embed="rId2">
            <a:extLst>
              <a:ext uri="{28A0092B-C50C-407E-A947-70E740481C1C}">
                <a14:useLocalDpi xmlns:a14="http://schemas.microsoft.com/office/drawing/2010/main" val="0"/>
              </a:ext>
            </a:extLst>
          </a:blip>
          <a:srcRect t="22552" r="9090" b="4132"/>
          <a:stretch>
            <a:fillRect/>
          </a:stretch>
        </p:blipFill>
        <p:spPr>
          <a:xfrm>
            <a:off x="2" y="10"/>
            <a:ext cx="12191695" cy="6857990"/>
          </a:xfrm>
          <a:prstGeom prst="rect">
            <a:avLst/>
          </a:prstGeom>
        </p:spPr>
      </p:pic>
      <p:sp>
        <p:nvSpPr>
          <p:cNvPr id="25" name="Rectangle 24">
            <a:extLst>
              <a:ext uri="{FF2B5EF4-FFF2-40B4-BE49-F238E27FC236}">
                <a16:creationId xmlns:a16="http://schemas.microsoft.com/office/drawing/2014/main" id="{A4092ECB-D375-4A85-AD6E-85644D2A9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7" y="3064931"/>
            <a:ext cx="8293042"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8C6E0D-58C7-7434-1C9E-3B530F3061D4}"/>
              </a:ext>
            </a:extLst>
          </p:cNvPr>
          <p:cNvSpPr>
            <a:spLocks noGrp="1"/>
          </p:cNvSpPr>
          <p:nvPr>
            <p:ph type="ctrTitle"/>
          </p:nvPr>
        </p:nvSpPr>
        <p:spPr>
          <a:xfrm>
            <a:off x="1300526" y="3236470"/>
            <a:ext cx="6829044" cy="1252601"/>
          </a:xfrm>
        </p:spPr>
        <p:txBody>
          <a:bodyPr>
            <a:normAutofit/>
          </a:bodyPr>
          <a:lstStyle/>
          <a:p>
            <a:pPr algn="r"/>
            <a:r>
              <a:rPr lang="en-US" sz="4400">
                <a:solidFill>
                  <a:srgbClr val="FFFFFE"/>
                </a:solidFill>
                <a:latin typeface="Brush Script MT" panose="03060802040406070304" pitchFamily="66" charset="0"/>
              </a:rPr>
              <a:t>The Louvre Heist</a:t>
            </a:r>
          </a:p>
        </p:txBody>
      </p:sp>
      <p:sp>
        <p:nvSpPr>
          <p:cNvPr id="3" name="Subtitle 2">
            <a:extLst>
              <a:ext uri="{FF2B5EF4-FFF2-40B4-BE49-F238E27FC236}">
                <a16:creationId xmlns:a16="http://schemas.microsoft.com/office/drawing/2014/main" id="{3885296A-8A0A-B961-8A21-59F7658C9D18}"/>
              </a:ext>
            </a:extLst>
          </p:cNvPr>
          <p:cNvSpPr>
            <a:spLocks noGrp="1"/>
          </p:cNvSpPr>
          <p:nvPr>
            <p:ph type="subTitle" idx="1"/>
          </p:nvPr>
        </p:nvSpPr>
        <p:spPr>
          <a:xfrm>
            <a:off x="1300525" y="4669144"/>
            <a:ext cx="6829043" cy="829955"/>
          </a:xfrm>
        </p:spPr>
        <p:txBody>
          <a:bodyPr>
            <a:noAutofit/>
          </a:bodyPr>
          <a:lstStyle/>
          <a:p>
            <a:pPr algn="r">
              <a:lnSpc>
                <a:spcPct val="110000"/>
              </a:lnSpc>
            </a:pPr>
            <a:r>
              <a:rPr lang="en-US" sz="1200" b="1" i="1" dirty="0">
                <a:solidFill>
                  <a:srgbClr val="FFFFFE"/>
                </a:solidFill>
                <a:latin typeface="Agency FB" panose="020B0503020202020204" pitchFamily="34" charset="0"/>
                <a:cs typeface="Arabic Typesetting" panose="020F0502020204030204" pitchFamily="66" charset="-78"/>
              </a:rPr>
              <a:t>Faris Sajjad</a:t>
            </a:r>
          </a:p>
          <a:p>
            <a:pPr algn="r">
              <a:lnSpc>
                <a:spcPct val="110000"/>
              </a:lnSpc>
            </a:pPr>
            <a:r>
              <a:rPr lang="en-US" sz="1200" b="1" i="1" dirty="0">
                <a:solidFill>
                  <a:srgbClr val="FFFFFE"/>
                </a:solidFill>
                <a:latin typeface="Agency FB" panose="020B0503020202020204" pitchFamily="34" charset="0"/>
                <a:cs typeface="Arabic Typesetting" panose="020F0502020204030204" pitchFamily="66" charset="-78"/>
              </a:rPr>
              <a:t>BS-</a:t>
            </a:r>
            <a:r>
              <a:rPr lang="en-US" sz="1200" b="1" i="1" dirty="0" err="1">
                <a:solidFill>
                  <a:srgbClr val="FFFFFE"/>
                </a:solidFill>
                <a:latin typeface="Agency FB" panose="020B0503020202020204" pitchFamily="34" charset="0"/>
                <a:cs typeface="Arabic Typesetting" panose="020F0502020204030204" pitchFamily="66" charset="-78"/>
              </a:rPr>
              <a:t>AvM</a:t>
            </a:r>
            <a:br>
              <a:rPr lang="en-US" sz="1200" b="1" i="1" dirty="0">
                <a:solidFill>
                  <a:srgbClr val="FFFFFE"/>
                </a:solidFill>
                <a:latin typeface="Agency FB" panose="020B0503020202020204" pitchFamily="34" charset="0"/>
                <a:cs typeface="Arabic Typesetting" panose="020F0502020204030204" pitchFamily="66" charset="-78"/>
              </a:rPr>
            </a:br>
            <a:r>
              <a:rPr lang="en-US" sz="1200" b="1" i="1" dirty="0">
                <a:solidFill>
                  <a:srgbClr val="FFFFFE"/>
                </a:solidFill>
                <a:latin typeface="Agency FB" panose="020B0503020202020204" pitchFamily="34" charset="0"/>
                <a:cs typeface="Arabic Typesetting" panose="020F0502020204030204" pitchFamily="66" charset="-78"/>
              </a:rPr>
              <a:t> F25</a:t>
            </a:r>
          </a:p>
        </p:txBody>
      </p:sp>
      <p:cxnSp>
        <p:nvCxnSpPr>
          <p:cNvPr id="27" name="Straight Connector 26">
            <a:extLst>
              <a:ext uri="{FF2B5EF4-FFF2-40B4-BE49-F238E27FC236}">
                <a16:creationId xmlns:a16="http://schemas.microsoft.com/office/drawing/2014/main" id="{B6C1711D-6DAC-4FE1-B7B6-AC8A81B84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0525" y="4666480"/>
            <a:ext cx="6829043" cy="0"/>
          </a:xfrm>
          <a:prstGeom prst="line">
            <a:avLst/>
          </a:prstGeom>
          <a:ln w="31750">
            <a:solidFill>
              <a:srgbClr val="6AAABC"/>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8263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9623D-6384-FCF0-E6E4-BEB87DEA206C}"/>
              </a:ext>
            </a:extLst>
          </p:cNvPr>
          <p:cNvSpPr>
            <a:spLocks noGrp="1"/>
          </p:cNvSpPr>
          <p:nvPr>
            <p:ph type="title"/>
          </p:nvPr>
        </p:nvSpPr>
        <p:spPr>
          <a:xfrm>
            <a:off x="1451579" y="804519"/>
            <a:ext cx="9603275" cy="1049235"/>
          </a:xfrm>
        </p:spPr>
        <p:txBody>
          <a:bodyPr>
            <a:normAutofit/>
          </a:bodyPr>
          <a:lstStyle/>
          <a:p>
            <a:r>
              <a:rPr lang="en-US" dirty="0">
                <a:latin typeface="Brush Script MT" panose="03060802040406070304" pitchFamily="66" charset="0"/>
              </a:rPr>
              <a:t>Table of contents</a:t>
            </a:r>
          </a:p>
        </p:txBody>
      </p:sp>
      <p:graphicFrame>
        <p:nvGraphicFramePr>
          <p:cNvPr id="4" name="Content Placeholder 3">
            <a:extLst>
              <a:ext uri="{FF2B5EF4-FFF2-40B4-BE49-F238E27FC236}">
                <a16:creationId xmlns:a16="http://schemas.microsoft.com/office/drawing/2014/main" id="{0BC677A9-8987-11E0-D84B-633FDFADBB8B}"/>
              </a:ext>
            </a:extLst>
          </p:cNvPr>
          <p:cNvGraphicFramePr>
            <a:graphicFrameLocks noGrp="1"/>
          </p:cNvGraphicFramePr>
          <p:nvPr>
            <p:ph idx="1"/>
            <p:extLst>
              <p:ext uri="{D42A27DB-BD31-4B8C-83A1-F6EECF244321}">
                <p14:modId xmlns:p14="http://schemas.microsoft.com/office/powerpoint/2010/main" val="4155630129"/>
              </p:ext>
            </p:extLst>
          </p:nvPr>
        </p:nvGraphicFramePr>
        <p:xfrm>
          <a:off x="933062" y="2002972"/>
          <a:ext cx="7195694" cy="39935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Graphic 6" descr="Bullseye">
            <a:extLst>
              <a:ext uri="{FF2B5EF4-FFF2-40B4-BE49-F238E27FC236}">
                <a16:creationId xmlns:a16="http://schemas.microsoft.com/office/drawing/2014/main" id="{8BC81EAB-F440-425D-ABD9-B88A62D7CAE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28756" y="2277991"/>
            <a:ext cx="2926098" cy="2926098"/>
          </a:xfrm>
          <a:prstGeom prst="rect">
            <a:avLst/>
          </a:prstGeom>
        </p:spPr>
      </p:pic>
    </p:spTree>
    <p:extLst>
      <p:ext uri="{BB962C8B-B14F-4D97-AF65-F5344CB8AC3E}">
        <p14:creationId xmlns:p14="http://schemas.microsoft.com/office/powerpoint/2010/main" val="279332190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1027" name="Picture 3" descr="French police officers seal off the entrance to the Louvre Museum after a jewellery heist">
            <a:extLst>
              <a:ext uri="{FF2B5EF4-FFF2-40B4-BE49-F238E27FC236}">
                <a16:creationId xmlns:a16="http://schemas.microsoft.com/office/drawing/2014/main" id="{D46CD926-DC48-802E-B3DD-9BA86DEA7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1322" r="9090" b="1779"/>
          <a:stretch>
            <a:fillRect/>
          </a:stretch>
        </p:blipFill>
        <p:spPr bwMode="auto">
          <a:xfrm>
            <a:off x="-3178" y="10"/>
            <a:ext cx="12191695"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2" name="Rectangle 1031">
            <a:extLst>
              <a:ext uri="{FF2B5EF4-FFF2-40B4-BE49-F238E27FC236}">
                <a16:creationId xmlns:a16="http://schemas.microsoft.com/office/drawing/2014/main" id="{F2AF0D79-4A1A-4F27-B9F0-CF252C4AC9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8" y="636753"/>
            <a:ext cx="8299435" cy="5572810"/>
          </a:xfrm>
          <a:prstGeom prst="rect">
            <a:avLst/>
          </a:prstGeom>
          <a:solidFill>
            <a:srgbClr val="000001">
              <a:alpha val="749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9B212F-26DA-B1AA-0523-8F4028A5E171}"/>
              </a:ext>
            </a:extLst>
          </p:cNvPr>
          <p:cNvSpPr>
            <a:spLocks noGrp="1"/>
          </p:cNvSpPr>
          <p:nvPr>
            <p:ph type="title"/>
          </p:nvPr>
        </p:nvSpPr>
        <p:spPr>
          <a:xfrm>
            <a:off x="1304017" y="804520"/>
            <a:ext cx="6815731" cy="1049235"/>
          </a:xfrm>
        </p:spPr>
        <p:txBody>
          <a:bodyPr>
            <a:normAutofit/>
          </a:bodyPr>
          <a:lstStyle/>
          <a:p>
            <a:r>
              <a:rPr lang="en-US" dirty="0">
                <a:solidFill>
                  <a:srgbClr val="FFFFFE"/>
                </a:solidFill>
                <a:latin typeface="Brush Script MT" panose="03060802040406070304" pitchFamily="66" charset="0"/>
              </a:rPr>
              <a:t>A Summary of events</a:t>
            </a:r>
          </a:p>
        </p:txBody>
      </p:sp>
      <p:cxnSp>
        <p:nvCxnSpPr>
          <p:cNvPr id="1034" name="Straight Connector 1033">
            <a:extLst>
              <a:ext uri="{FF2B5EF4-FFF2-40B4-BE49-F238E27FC236}">
                <a16:creationId xmlns:a16="http://schemas.microsoft.com/office/drawing/2014/main" id="{8E83266B-97F8-4AB9-818F-3A70E8D858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6385" y="1847088"/>
            <a:ext cx="6813363" cy="0"/>
          </a:xfrm>
          <a:prstGeom prst="line">
            <a:avLst/>
          </a:prstGeom>
          <a:ln w="31750">
            <a:solidFill>
              <a:srgbClr val="B75A4F"/>
            </a:solidFill>
          </a:ln>
        </p:spPr>
        <p:style>
          <a:lnRef idx="3">
            <a:schemeClr val="accent1"/>
          </a:lnRef>
          <a:fillRef idx="0">
            <a:schemeClr val="accent1"/>
          </a:fillRef>
          <a:effectRef idx="2">
            <a:schemeClr val="accent1"/>
          </a:effectRef>
          <a:fontRef idx="minor">
            <a:schemeClr val="tx1"/>
          </a:fontRef>
        </p:style>
      </p:cxnSp>
      <p:sp>
        <p:nvSpPr>
          <p:cNvPr id="5" name="Rectangle 1">
            <a:extLst>
              <a:ext uri="{FF2B5EF4-FFF2-40B4-BE49-F238E27FC236}">
                <a16:creationId xmlns:a16="http://schemas.microsoft.com/office/drawing/2014/main" id="{024B219B-6CCB-6CBC-3D3B-2540A5830EDC}"/>
              </a:ext>
            </a:extLst>
          </p:cNvPr>
          <p:cNvSpPr>
            <a:spLocks noGrp="1" noChangeArrowheads="1"/>
          </p:cNvSpPr>
          <p:nvPr>
            <p:ph idx="1"/>
          </p:nvPr>
        </p:nvSpPr>
        <p:spPr bwMode="auto">
          <a:xfrm>
            <a:off x="1304017" y="2015733"/>
            <a:ext cx="6815731" cy="40212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spcBef>
                <a:spcPct val="0"/>
              </a:spcBef>
              <a:spcAft>
                <a:spcPts val="600"/>
              </a:spcAft>
              <a:buClr>
                <a:srgbClr val="B75A4F"/>
              </a:buClr>
              <a:buSzTx/>
              <a:buFontTx/>
              <a:buChar char="•"/>
              <a:tabLst/>
            </a:pPr>
            <a:r>
              <a:rPr kumimoji="0" lang="en-US" altLang="en-US" sz="2400" b="1" i="0" u="none" strike="noStrike" cap="none" normalizeH="0" baseline="0" dirty="0">
                <a:ln>
                  <a:noFill/>
                </a:ln>
                <a:solidFill>
                  <a:srgbClr val="FFFFFE"/>
                </a:solidFill>
                <a:effectLst/>
                <a:latin typeface="Baguet Script" panose="020F0502020204030204" pitchFamily="2" charset="0"/>
              </a:rPr>
              <a:t>What</a:t>
            </a:r>
            <a:r>
              <a:rPr kumimoji="0" lang="en-US" altLang="en-US" b="1" i="0" u="none" strike="noStrike" cap="none" normalizeH="0" baseline="0" dirty="0">
                <a:ln>
                  <a:noFill/>
                </a:ln>
                <a:solidFill>
                  <a:srgbClr val="FFFFFE"/>
                </a:solidFill>
                <a:effectLst/>
                <a:latin typeface="Arial" panose="020B0604020202020204" pitchFamily="34" charset="0"/>
              </a:rPr>
              <a:t>:</a:t>
            </a:r>
            <a:r>
              <a:rPr kumimoji="0" lang="en-US" altLang="en-US" b="0" i="0" u="none" strike="noStrike" cap="none" normalizeH="0" baseline="0" dirty="0">
                <a:ln>
                  <a:noFill/>
                </a:ln>
                <a:solidFill>
                  <a:srgbClr val="FFFFFE"/>
                </a:solidFill>
                <a:effectLst/>
                <a:latin typeface="Arial" panose="020B0604020202020204" pitchFamily="34" charset="0"/>
              </a:rPr>
              <a:t> Armed/technical burglary at the Louvre’s Galerie </a:t>
            </a:r>
            <a:r>
              <a:rPr kumimoji="0" lang="en-US" altLang="en-US" b="0" i="0" u="none" strike="noStrike" cap="none" normalizeH="0" baseline="0" dirty="0" err="1">
                <a:ln>
                  <a:noFill/>
                </a:ln>
                <a:solidFill>
                  <a:srgbClr val="FFFFFE"/>
                </a:solidFill>
                <a:effectLst/>
                <a:latin typeface="Arial" panose="020B0604020202020204" pitchFamily="34" charset="0"/>
              </a:rPr>
              <a:t>d’Apollon</a:t>
            </a:r>
            <a:r>
              <a:rPr kumimoji="0" lang="en-US" altLang="en-US" b="0" i="0" u="none" strike="noStrike" cap="none" normalizeH="0" baseline="0" dirty="0">
                <a:ln>
                  <a:noFill/>
                </a:ln>
                <a:solidFill>
                  <a:srgbClr val="FFFFFE"/>
                </a:solidFill>
                <a:effectLst/>
                <a:latin typeface="Arial" panose="020B0604020202020204" pitchFamily="34" charset="0"/>
              </a:rPr>
              <a:t>; eight historic crown-jewel items stolen (one crown later recovered, damaged). </a:t>
            </a:r>
            <a:br>
              <a:rPr kumimoji="0" lang="en-US" altLang="en-US" b="0" i="0" u="none" strike="noStrike" cap="none" normalizeH="0" baseline="0" dirty="0">
                <a:ln>
                  <a:noFill/>
                </a:ln>
                <a:solidFill>
                  <a:srgbClr val="FFFFFE"/>
                </a:solidFill>
                <a:effectLst/>
                <a:latin typeface="Arial" panose="020B0604020202020204" pitchFamily="34" charset="0"/>
              </a:rPr>
            </a:br>
            <a:br>
              <a:rPr kumimoji="0" lang="en-US" altLang="en-US" b="0" i="0" u="none" strike="noStrike" cap="none" normalizeH="0" baseline="0" dirty="0">
                <a:ln>
                  <a:noFill/>
                </a:ln>
                <a:solidFill>
                  <a:srgbClr val="FFFFFE"/>
                </a:solidFill>
                <a:effectLst/>
                <a:latin typeface="Arial" panose="020B0604020202020204" pitchFamily="34" charset="0"/>
              </a:rPr>
            </a:br>
            <a:r>
              <a:rPr kumimoji="0" lang="en-US" altLang="en-US" sz="2400" b="1" i="0" u="none" strike="noStrike" cap="none" normalizeH="0" baseline="0" dirty="0">
                <a:ln>
                  <a:noFill/>
                </a:ln>
                <a:solidFill>
                  <a:srgbClr val="FFFFFE"/>
                </a:solidFill>
                <a:effectLst/>
                <a:latin typeface="Baguet Script" panose="020F0502020204030204" pitchFamily="2" charset="0"/>
              </a:rPr>
              <a:t>When</a:t>
            </a:r>
            <a:r>
              <a:rPr kumimoji="0" lang="en-US" altLang="en-US" b="1" i="0" u="none" strike="noStrike" cap="none" normalizeH="0" baseline="0" dirty="0">
                <a:ln>
                  <a:noFill/>
                </a:ln>
                <a:solidFill>
                  <a:srgbClr val="FFFFFE"/>
                </a:solidFill>
                <a:effectLst/>
                <a:latin typeface="Arial" panose="020B0604020202020204" pitchFamily="34" charset="0"/>
              </a:rPr>
              <a:t>:</a:t>
            </a:r>
            <a:r>
              <a:rPr kumimoji="0" lang="en-US" altLang="en-US" b="0" i="0" u="none" strike="noStrike" cap="none" normalizeH="0" baseline="0" dirty="0">
                <a:ln>
                  <a:noFill/>
                </a:ln>
                <a:solidFill>
                  <a:srgbClr val="FFFFFE"/>
                </a:solidFill>
                <a:effectLst/>
                <a:latin typeface="Arial" panose="020B0604020202020204" pitchFamily="34" charset="0"/>
              </a:rPr>
              <a:t> Morning of 19 October 2025, ~9:30 a.m., during public opening hours. </a:t>
            </a:r>
            <a:br>
              <a:rPr kumimoji="0" lang="en-US" altLang="en-US" b="0" i="0" u="none" strike="noStrike" cap="none" normalizeH="0" baseline="0" dirty="0">
                <a:ln>
                  <a:noFill/>
                </a:ln>
                <a:solidFill>
                  <a:srgbClr val="FFFFFE"/>
                </a:solidFill>
                <a:effectLst/>
                <a:latin typeface="Arial" panose="020B0604020202020204" pitchFamily="34" charset="0"/>
              </a:rPr>
            </a:br>
            <a:br>
              <a:rPr kumimoji="0" lang="en-US" altLang="en-US" b="0" i="0" u="none" strike="noStrike" cap="none" normalizeH="0" baseline="0" dirty="0">
                <a:ln>
                  <a:noFill/>
                </a:ln>
                <a:solidFill>
                  <a:srgbClr val="FFFFFE"/>
                </a:solidFill>
                <a:effectLst/>
                <a:latin typeface="Arial" panose="020B0604020202020204" pitchFamily="34" charset="0"/>
              </a:rPr>
            </a:br>
            <a:r>
              <a:rPr kumimoji="0" lang="en-US" altLang="en-US" sz="2400" b="1" i="0" u="none" strike="noStrike" cap="none" normalizeH="0" baseline="0" dirty="0">
                <a:ln>
                  <a:noFill/>
                </a:ln>
                <a:solidFill>
                  <a:srgbClr val="FFFFFE"/>
                </a:solidFill>
                <a:effectLst/>
                <a:latin typeface="Baguet Script" panose="020F0502020204030204" pitchFamily="2" charset="0"/>
              </a:rPr>
              <a:t>How long</a:t>
            </a:r>
            <a:r>
              <a:rPr kumimoji="0" lang="en-US" altLang="en-US" sz="2400" b="1" i="0" u="none" strike="noStrike" cap="none" normalizeH="0" baseline="0" dirty="0">
                <a:ln>
                  <a:noFill/>
                </a:ln>
                <a:solidFill>
                  <a:srgbClr val="FFFFFE"/>
                </a:solidFill>
                <a:effectLst/>
                <a:latin typeface="Arial" panose="020B0604020202020204" pitchFamily="34" charset="0"/>
              </a:rPr>
              <a:t>:</a:t>
            </a:r>
            <a:r>
              <a:rPr kumimoji="0" lang="en-US" altLang="en-US" sz="2400" b="0" i="0" u="none" strike="noStrike" cap="none" normalizeH="0" baseline="0" dirty="0">
                <a:ln>
                  <a:noFill/>
                </a:ln>
                <a:solidFill>
                  <a:srgbClr val="FFFFFE"/>
                </a:solidFill>
                <a:effectLst/>
                <a:latin typeface="Arial" panose="020B0604020202020204" pitchFamily="34" charset="0"/>
              </a:rPr>
              <a:t> </a:t>
            </a:r>
            <a:r>
              <a:rPr kumimoji="0" lang="en-US" altLang="en-US" b="0" i="0" u="none" strike="noStrike" cap="none" normalizeH="0" baseline="0" dirty="0">
                <a:ln>
                  <a:noFill/>
                </a:ln>
                <a:solidFill>
                  <a:srgbClr val="FFFFFE"/>
                </a:solidFill>
                <a:effectLst/>
                <a:latin typeface="Arial" panose="020B0604020202020204" pitchFamily="34" charset="0"/>
              </a:rPr>
              <a:t>The operation took under eight minutes (roughly 4 minutes inside the museum). </a:t>
            </a:r>
            <a:br>
              <a:rPr kumimoji="0" lang="en-US" altLang="en-US" b="0" i="0" u="none" strike="noStrike" cap="none" normalizeH="0" baseline="0" dirty="0">
                <a:ln>
                  <a:noFill/>
                </a:ln>
                <a:solidFill>
                  <a:srgbClr val="FFFFFE"/>
                </a:solidFill>
                <a:effectLst/>
                <a:latin typeface="Arial" panose="020B0604020202020204" pitchFamily="34" charset="0"/>
              </a:rPr>
            </a:br>
            <a:br>
              <a:rPr kumimoji="0" lang="en-US" altLang="en-US" b="0" i="0" u="none" strike="noStrike" cap="none" normalizeH="0" baseline="0" dirty="0">
                <a:ln>
                  <a:noFill/>
                </a:ln>
                <a:solidFill>
                  <a:srgbClr val="FFFFFE"/>
                </a:solidFill>
                <a:effectLst/>
                <a:latin typeface="Arial" panose="020B0604020202020204" pitchFamily="34" charset="0"/>
              </a:rPr>
            </a:br>
            <a:r>
              <a:rPr kumimoji="0" lang="en-US" altLang="en-US" sz="2400" b="1" i="0" u="none" strike="noStrike" cap="none" normalizeH="0" baseline="0" dirty="0">
                <a:ln>
                  <a:noFill/>
                </a:ln>
                <a:solidFill>
                  <a:srgbClr val="FFFFFE"/>
                </a:solidFill>
                <a:effectLst/>
                <a:latin typeface="Baguet Script" panose="020F0502020204030204" pitchFamily="2" charset="0"/>
              </a:rPr>
              <a:t>Estimated value:</a:t>
            </a:r>
            <a:r>
              <a:rPr kumimoji="0" lang="en-US" altLang="en-US" sz="2400" b="0" i="0" u="none" strike="noStrike" cap="none" normalizeH="0" baseline="0" dirty="0">
                <a:ln>
                  <a:noFill/>
                </a:ln>
                <a:solidFill>
                  <a:srgbClr val="FFFFFE"/>
                </a:solidFill>
                <a:effectLst/>
                <a:latin typeface="Baguet Script" panose="020F0502020204030204" pitchFamily="2" charset="0"/>
              </a:rPr>
              <a:t> </a:t>
            </a:r>
            <a:r>
              <a:rPr kumimoji="0" lang="en-US" altLang="en-US" b="0" i="0" u="none" strike="noStrike" cap="none" normalizeH="0" baseline="0" dirty="0">
                <a:ln>
                  <a:noFill/>
                </a:ln>
                <a:solidFill>
                  <a:srgbClr val="FFFFFE"/>
                </a:solidFill>
                <a:effectLst/>
                <a:latin typeface="Arial" panose="020B0604020202020204" pitchFamily="34" charset="0"/>
              </a:rPr>
              <a:t>Authorities estimated ~€88 million.</a:t>
            </a:r>
          </a:p>
        </p:txBody>
      </p:sp>
    </p:spTree>
    <p:extLst>
      <p:ext uri="{BB962C8B-B14F-4D97-AF65-F5344CB8AC3E}">
        <p14:creationId xmlns:p14="http://schemas.microsoft.com/office/powerpoint/2010/main" val="24186189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close-up of a brochure&#10;&#10;AI-generated content may be incorrect.">
            <a:extLst>
              <a:ext uri="{FF2B5EF4-FFF2-40B4-BE49-F238E27FC236}">
                <a16:creationId xmlns:a16="http://schemas.microsoft.com/office/drawing/2014/main" id="{9B8BF64E-E8B9-1AC9-5EFD-B3A8E8AD7BE0}"/>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r="890" b="-1"/>
          <a:stretch>
            <a:fillRect/>
          </a:stretch>
        </p:blipFill>
        <p:spPr>
          <a:xfrm>
            <a:off x="-57150" y="-152395"/>
            <a:ext cx="12191695" cy="6857990"/>
          </a:xfrm>
          <a:prstGeom prst="rect">
            <a:avLst/>
          </a:prstGeom>
        </p:spPr>
      </p:pic>
      <p:sp>
        <p:nvSpPr>
          <p:cNvPr id="2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6" name="Rectangle 2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ADB4093D-5190-F03B-9CB3-62D9B02AFF1D}"/>
              </a:ext>
            </a:extLst>
          </p:cNvPr>
          <p:cNvSpPr>
            <a:spLocks noGrp="1"/>
          </p:cNvSpPr>
          <p:nvPr>
            <p:ph type="title"/>
          </p:nvPr>
        </p:nvSpPr>
        <p:spPr>
          <a:xfrm>
            <a:off x="1130271" y="1193800"/>
            <a:ext cx="3193050" cy="4699000"/>
          </a:xfrm>
        </p:spPr>
        <p:txBody>
          <a:bodyPr anchor="ctr">
            <a:normAutofit/>
          </a:bodyPr>
          <a:lstStyle/>
          <a:p>
            <a:r>
              <a:rPr lang="en-US" b="1" dirty="0">
                <a:latin typeface="Brush Script MT" panose="03060802040406070304" pitchFamily="66" charset="0"/>
              </a:rPr>
              <a:t>The target</a:t>
            </a:r>
          </a:p>
        </p:txBody>
      </p:sp>
      <p:cxnSp>
        <p:nvCxnSpPr>
          <p:cNvPr id="28" name="Straight Connector 2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B8EDCFC-F03F-62B2-2826-3726F319A333}"/>
              </a:ext>
            </a:extLst>
          </p:cNvPr>
          <p:cNvSpPr>
            <a:spLocks noGrp="1"/>
          </p:cNvSpPr>
          <p:nvPr>
            <p:ph idx="1"/>
          </p:nvPr>
        </p:nvSpPr>
        <p:spPr>
          <a:xfrm>
            <a:off x="4976636" y="1193800"/>
            <a:ext cx="6085091" cy="4699000"/>
          </a:xfrm>
        </p:spPr>
        <p:txBody>
          <a:bodyPr anchor="ctr">
            <a:normAutofit/>
          </a:bodyPr>
          <a:lstStyle/>
          <a:p>
            <a:r>
              <a:rPr lang="en-US" dirty="0"/>
              <a:t>Location: Galerie </a:t>
            </a:r>
            <a:r>
              <a:rPr lang="en-US" dirty="0" err="1"/>
              <a:t>d’Apollon</a:t>
            </a:r>
            <a:r>
              <a:rPr lang="en-US" dirty="0"/>
              <a:t> (Denon wing, 1st floor) — historic room that houses the French crown jewels (tiaras, crowns, historic sets). </a:t>
            </a:r>
            <a:br>
              <a:rPr lang="en-US" dirty="0"/>
            </a:br>
            <a:br>
              <a:rPr lang="en-US" dirty="0"/>
            </a:br>
            <a:r>
              <a:rPr lang="en-US" dirty="0"/>
              <a:t>Significance: Objects span 18th–19th centuries (Napoleonic and royal jewelry); cultural and historical value far outweighs resale price</a:t>
            </a:r>
            <a:br>
              <a:rPr lang="en-US" dirty="0"/>
            </a:br>
            <a:br>
              <a:rPr lang="en-US" dirty="0"/>
            </a:br>
            <a:r>
              <a:rPr lang="en-US" b="1" dirty="0"/>
              <a:t>Galerie </a:t>
            </a:r>
            <a:r>
              <a:rPr lang="en-US" b="1" dirty="0" err="1"/>
              <a:t>d’Apollon</a:t>
            </a:r>
            <a:r>
              <a:rPr lang="en-US" b="1" dirty="0"/>
              <a:t> &amp; the French Crown Jewels</a:t>
            </a:r>
          </a:p>
          <a:p>
            <a:endParaRPr lang="en-US" dirty="0"/>
          </a:p>
        </p:txBody>
      </p:sp>
      <p:sp>
        <p:nvSpPr>
          <p:cNvPr id="3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3" name="AutoShape 16" descr="This photo provided Thursday Oct. 23, 2025 by Interpol and taken from its website shows the jewels stolen in the Louvre museum on Sunday Oct.19, 2025 in Paris. (Interpol via AP)">
            <a:extLst>
              <a:ext uri="{FF2B5EF4-FFF2-40B4-BE49-F238E27FC236}">
                <a16:creationId xmlns:a16="http://schemas.microsoft.com/office/drawing/2014/main" id="{1CB579AE-996F-7DC3-D490-EE7FB2FFF01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15369816"/>
      </p:ext>
    </p:extLst>
  </p:cSld>
  <p:clrMapOvr>
    <a:overrideClrMapping bg1="dk1" tx1="lt1" bg2="dk2" tx2="lt2" accent1="accent1" accent2="accent2" accent3="accent3" accent4="accent4" accent5="accent5" accent6="accent6" hlink="hlink" folHlink="folHlink"/>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60E6-F156-F2CD-7A49-140974BF599B}"/>
              </a:ext>
            </a:extLst>
          </p:cNvPr>
          <p:cNvSpPr>
            <a:spLocks noGrp="1"/>
          </p:cNvSpPr>
          <p:nvPr>
            <p:ph type="title"/>
          </p:nvPr>
        </p:nvSpPr>
        <p:spPr>
          <a:xfrm>
            <a:off x="1451579" y="804519"/>
            <a:ext cx="9603275" cy="1049235"/>
          </a:xfrm>
        </p:spPr>
        <p:txBody>
          <a:bodyPr>
            <a:normAutofit/>
          </a:bodyPr>
          <a:lstStyle/>
          <a:p>
            <a:r>
              <a:rPr lang="en-US" dirty="0">
                <a:latin typeface="Brush Script MT" panose="03060802040406070304" pitchFamily="66" charset="0"/>
              </a:rPr>
              <a:t>Chronological Timeline</a:t>
            </a:r>
          </a:p>
        </p:txBody>
      </p:sp>
      <p:pic>
        <p:nvPicPr>
          <p:cNvPr id="8" name="Picture 7" descr="An aerial view of a building&#10;&#10;AI-generated content may be incorrect.">
            <a:extLst>
              <a:ext uri="{FF2B5EF4-FFF2-40B4-BE49-F238E27FC236}">
                <a16:creationId xmlns:a16="http://schemas.microsoft.com/office/drawing/2014/main" id="{1F7E6AC1-F6ED-8750-006B-EEC19C9B5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679" y="2015734"/>
            <a:ext cx="6181121" cy="3648466"/>
          </a:xfrm>
          <a:prstGeom prst="rect">
            <a:avLst/>
          </a:prstGeom>
          <a:scene3d>
            <a:camera prst="orthographicFront"/>
            <a:lightRig rig="threePt" dir="t"/>
          </a:scene3d>
          <a:sp3d>
            <a:bevelT prst="relaxedInset"/>
          </a:sp3d>
        </p:spPr>
      </p:pic>
      <p:sp>
        <p:nvSpPr>
          <p:cNvPr id="3" name="Content Placeholder 2">
            <a:extLst>
              <a:ext uri="{FF2B5EF4-FFF2-40B4-BE49-F238E27FC236}">
                <a16:creationId xmlns:a16="http://schemas.microsoft.com/office/drawing/2014/main" id="{6F48F425-2096-B41D-B921-85D9635E3E5E}"/>
              </a:ext>
            </a:extLst>
          </p:cNvPr>
          <p:cNvSpPr>
            <a:spLocks noGrp="1"/>
          </p:cNvSpPr>
          <p:nvPr>
            <p:ph idx="1"/>
          </p:nvPr>
        </p:nvSpPr>
        <p:spPr>
          <a:xfrm>
            <a:off x="6892299" y="2015734"/>
            <a:ext cx="4162555" cy="3450613"/>
          </a:xfrm>
        </p:spPr>
        <p:txBody>
          <a:bodyPr>
            <a:normAutofit/>
          </a:bodyPr>
          <a:lstStyle/>
          <a:p>
            <a:pPr marL="0" indent="0">
              <a:lnSpc>
                <a:spcPct val="110000"/>
              </a:lnSpc>
              <a:buNone/>
            </a:pPr>
            <a:r>
              <a:rPr lang="en-US" sz="1300" dirty="0"/>
              <a:t>1) ~09:00–09:30: Thieves arrive; museum opens at 9:00 and gallery busy with visitors.</a:t>
            </a:r>
            <a:br>
              <a:rPr lang="en-US" sz="1300" dirty="0"/>
            </a:br>
            <a:br>
              <a:rPr lang="en-US" sz="1300" dirty="0"/>
            </a:br>
            <a:r>
              <a:rPr lang="en-US" sz="1300" dirty="0"/>
              <a:t>2) ~09:30: Four suspects, disguised as workers (hi-vis vests), used a furniture lift / ladder truck to reach a first-floor window on the Seine side; they cut glass and entered. </a:t>
            </a:r>
            <a:br>
              <a:rPr lang="en-US" sz="1300" dirty="0"/>
            </a:br>
            <a:br>
              <a:rPr lang="en-US" sz="1300" dirty="0"/>
            </a:br>
            <a:r>
              <a:rPr lang="en-US" sz="1300" dirty="0"/>
              <a:t>3) Inside: Suspects used angle grinders/disc cutters to breach display cases, grabbed multiple pieces. </a:t>
            </a:r>
            <a:br>
              <a:rPr lang="en-US" sz="1300" dirty="0"/>
            </a:br>
            <a:br>
              <a:rPr lang="en-US" sz="1300" dirty="0"/>
            </a:br>
            <a:r>
              <a:rPr lang="en-US" sz="1300" dirty="0"/>
              <a:t>4) Escape: Fled via motorbikes; one crown was dropped outside and later recovered damaged. </a:t>
            </a:r>
            <a:br>
              <a:rPr lang="en-US" sz="1300" dirty="0"/>
            </a:br>
            <a:br>
              <a:rPr lang="en-US" sz="1300" dirty="0"/>
            </a:br>
            <a:r>
              <a:rPr lang="en-US" sz="1300" dirty="0"/>
              <a:t>5) Entire event &lt;8 minutes.</a:t>
            </a:r>
          </a:p>
        </p:txBody>
      </p:sp>
    </p:spTree>
    <p:extLst>
      <p:ext uri="{BB962C8B-B14F-4D97-AF65-F5344CB8AC3E}">
        <p14:creationId xmlns:p14="http://schemas.microsoft.com/office/powerpoint/2010/main" val="3817422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24BE214B-2C92-47AF-8D90-698211103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186D07CD-E0E5-42ED-BA28-6CB6ADC3B0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7" y="1847088"/>
            <a:ext cx="554803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8DDBB0FD-E58A-6B40-4A05-ED3498F6DD1F}"/>
              </a:ext>
            </a:extLst>
          </p:cNvPr>
          <p:cNvSpPr>
            <a:spLocks noGrp="1"/>
          </p:cNvSpPr>
          <p:nvPr>
            <p:ph type="title"/>
          </p:nvPr>
        </p:nvSpPr>
        <p:spPr>
          <a:xfrm>
            <a:off x="1451580" y="804520"/>
            <a:ext cx="5550355" cy="1049235"/>
          </a:xfrm>
        </p:spPr>
        <p:txBody>
          <a:bodyPr>
            <a:normAutofit/>
          </a:bodyPr>
          <a:lstStyle/>
          <a:p>
            <a:r>
              <a:rPr lang="en-US" sz="2700" dirty="0">
                <a:latin typeface="Brush Script MT" panose="03060802040406070304" pitchFamily="66" charset="0"/>
              </a:rPr>
              <a:t>How they did it: The methods and tools behind the heist</a:t>
            </a:r>
          </a:p>
        </p:txBody>
      </p:sp>
      <p:sp>
        <p:nvSpPr>
          <p:cNvPr id="47" name="Rectangle 46">
            <a:extLst>
              <a:ext uri="{FF2B5EF4-FFF2-40B4-BE49-F238E27FC236}">
                <a16:creationId xmlns:a16="http://schemas.microsoft.com/office/drawing/2014/main" id="{369A020F-4984-4DD0-898A-B60A4882B0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D665E92A-195C-E3AA-9106-DEF7E0214176}"/>
              </a:ext>
            </a:extLst>
          </p:cNvPr>
          <p:cNvSpPr>
            <a:spLocks noGrp="1"/>
          </p:cNvSpPr>
          <p:nvPr>
            <p:ph idx="1"/>
          </p:nvPr>
        </p:nvSpPr>
        <p:spPr>
          <a:xfrm>
            <a:off x="1451580" y="2015732"/>
            <a:ext cx="5550355" cy="3450613"/>
          </a:xfrm>
        </p:spPr>
        <p:txBody>
          <a:bodyPr>
            <a:normAutofit/>
          </a:bodyPr>
          <a:lstStyle/>
          <a:p>
            <a:pPr>
              <a:lnSpc>
                <a:spcPct val="110000"/>
              </a:lnSpc>
            </a:pPr>
            <a:r>
              <a:rPr lang="en-US" sz="1700" b="1" dirty="0">
                <a:latin typeface="+mj-lt"/>
              </a:rPr>
              <a:t>Disguise: </a:t>
            </a:r>
            <a:r>
              <a:rPr lang="en-US" sz="1700" dirty="0"/>
              <a:t>Hi-vis construction/maintenance vests to avoid immediate suspicion. </a:t>
            </a:r>
            <a:br>
              <a:rPr lang="en-US" sz="1700" dirty="0"/>
            </a:br>
            <a:r>
              <a:rPr lang="en-US" sz="1700" b="1" dirty="0"/>
              <a:t>Access equipment: </a:t>
            </a:r>
            <a:r>
              <a:rPr lang="en-US" sz="1700" dirty="0"/>
              <a:t>A furniture lift / ladder truck parked next to façade used to reach a window; manufacturers later went viral for their machine’s capabilities. </a:t>
            </a:r>
            <a:br>
              <a:rPr lang="en-US" sz="1700" dirty="0"/>
            </a:br>
            <a:r>
              <a:rPr lang="en-US" sz="1700" b="1" dirty="0"/>
              <a:t>Tools used</a:t>
            </a:r>
            <a:r>
              <a:rPr lang="en-US" sz="1700" dirty="0"/>
              <a:t>: Angle grinders/disc cutters to cut glass; equipment and garments left behind provided forensic leads.</a:t>
            </a:r>
            <a:br>
              <a:rPr lang="en-US" sz="1700" dirty="0"/>
            </a:br>
            <a:r>
              <a:rPr lang="en-US" sz="1700" b="1" dirty="0"/>
              <a:t>Exit: </a:t>
            </a:r>
            <a:r>
              <a:rPr lang="en-US" sz="1700" dirty="0"/>
              <a:t>Quick motorcycle getaway, planned route out along Seine then onto the ring road.</a:t>
            </a:r>
          </a:p>
          <a:p>
            <a:pPr>
              <a:lnSpc>
                <a:spcPct val="110000"/>
              </a:lnSpc>
            </a:pPr>
            <a:endParaRPr lang="en-US" sz="1700" dirty="0"/>
          </a:p>
        </p:txBody>
      </p:sp>
      <p:grpSp>
        <p:nvGrpSpPr>
          <p:cNvPr id="49" name="Group 48">
            <a:extLst>
              <a:ext uri="{FF2B5EF4-FFF2-40B4-BE49-F238E27FC236}">
                <a16:creationId xmlns:a16="http://schemas.microsoft.com/office/drawing/2014/main" id="{A3761B47-AE33-47C9-9636-19D4B313F2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77388" y="482171"/>
            <a:ext cx="4074533" cy="5149101"/>
            <a:chOff x="7477388" y="482171"/>
            <a:chExt cx="4074533" cy="5149101"/>
          </a:xfrm>
        </p:grpSpPr>
        <p:sp>
          <p:nvSpPr>
            <p:cNvPr id="50" name="Rectangle 49">
              <a:extLst>
                <a:ext uri="{FF2B5EF4-FFF2-40B4-BE49-F238E27FC236}">
                  <a16:creationId xmlns:a16="http://schemas.microsoft.com/office/drawing/2014/main" id="{9E204B78-8026-4E1E-9C59-5F523ECDD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77388" y="482171"/>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DDEB6F1-F54D-4345-B8DF-72D72C71EC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47" y="812507"/>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4380F474-D468-4F2F-8BE9-F343F8D1A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1624" y="977965"/>
            <a:ext cx="3119444"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crane on a ladder&#10;&#10;AI-generated content may be incorrect.">
            <a:extLst>
              <a:ext uri="{FF2B5EF4-FFF2-40B4-BE49-F238E27FC236}">
                <a16:creationId xmlns:a16="http://schemas.microsoft.com/office/drawing/2014/main" id="{E26A5492-D118-7913-F079-4AEC79C08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6373" y="1308695"/>
            <a:ext cx="2799103" cy="3481471"/>
          </a:xfrm>
          <a:prstGeom prst="rect">
            <a:avLst/>
          </a:prstGeom>
        </p:spPr>
      </p:pic>
      <p:pic>
        <p:nvPicPr>
          <p:cNvPr id="55" name="Picture 54">
            <a:extLst>
              <a:ext uri="{FF2B5EF4-FFF2-40B4-BE49-F238E27FC236}">
                <a16:creationId xmlns:a16="http://schemas.microsoft.com/office/drawing/2014/main" id="{D757EBBD-8611-41C1-8124-C151D0957DB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7" name="Straight Connector 56">
            <a:extLst>
              <a:ext uri="{FF2B5EF4-FFF2-40B4-BE49-F238E27FC236}">
                <a16:creationId xmlns:a16="http://schemas.microsoft.com/office/drawing/2014/main" id="{E40D0D8B-2D5E-48A4-BBD5-8CB09A86A6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7480863"/>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olice officers standing next to a truck&#10;&#10;AI-generated content may be incorrect.">
            <a:extLst>
              <a:ext uri="{FF2B5EF4-FFF2-40B4-BE49-F238E27FC236}">
                <a16:creationId xmlns:a16="http://schemas.microsoft.com/office/drawing/2014/main" id="{4E436105-BD9E-0882-A541-2CBD6F373F61}"/>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14068" r="-1" b="1343"/>
          <a:stretch>
            <a:fillRect/>
          </a:stretch>
        </p:blipFill>
        <p:spPr>
          <a:xfrm>
            <a:off x="305" y="10"/>
            <a:ext cx="12191695" cy="6857990"/>
          </a:xfrm>
          <a:prstGeom prst="rect">
            <a:avLst/>
          </a:prstGeom>
        </p:spPr>
      </p:pic>
      <p:sp>
        <p:nvSpPr>
          <p:cNvPr id="14"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6"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8" name="Rectangle 17">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37E595D5-B33D-9E06-9939-0FAAC9B1ABF4}"/>
              </a:ext>
            </a:extLst>
          </p:cNvPr>
          <p:cNvSpPr>
            <a:spLocks noGrp="1"/>
          </p:cNvSpPr>
          <p:nvPr>
            <p:ph type="title"/>
          </p:nvPr>
        </p:nvSpPr>
        <p:spPr>
          <a:xfrm>
            <a:off x="1130271" y="1193800"/>
            <a:ext cx="3193050" cy="4699000"/>
          </a:xfrm>
        </p:spPr>
        <p:txBody>
          <a:bodyPr anchor="ctr">
            <a:normAutofit/>
          </a:bodyPr>
          <a:lstStyle/>
          <a:p>
            <a:r>
              <a:rPr lang="en-US" dirty="0">
                <a:latin typeface="Brush Script MT" panose="03060802040406070304" pitchFamily="66" charset="0"/>
              </a:rPr>
              <a:t>Investigation progress and arrests</a:t>
            </a:r>
          </a:p>
        </p:txBody>
      </p:sp>
      <p:cxnSp>
        <p:nvCxnSpPr>
          <p:cNvPr id="20" name="Straight Connector 19">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79594E5-E5F7-3C45-5261-517A268C2795}"/>
              </a:ext>
            </a:extLst>
          </p:cNvPr>
          <p:cNvSpPr>
            <a:spLocks noGrp="1"/>
          </p:cNvSpPr>
          <p:nvPr>
            <p:ph idx="1"/>
          </p:nvPr>
        </p:nvSpPr>
        <p:spPr>
          <a:xfrm>
            <a:off x="4976636" y="1193800"/>
            <a:ext cx="6085091" cy="4699000"/>
          </a:xfrm>
        </p:spPr>
        <p:txBody>
          <a:bodyPr anchor="ctr">
            <a:normAutofit/>
          </a:bodyPr>
          <a:lstStyle/>
          <a:p>
            <a:r>
              <a:rPr lang="en-US" b="1" dirty="0"/>
              <a:t>Forensics</a:t>
            </a:r>
            <a:r>
              <a:rPr lang="en-US" dirty="0"/>
              <a:t>: Tools, clothing and CCTV used to identify suspects.</a:t>
            </a:r>
          </a:p>
          <a:p>
            <a:r>
              <a:rPr lang="en-US" b="1" dirty="0"/>
              <a:t>Arrests</a:t>
            </a:r>
            <a:r>
              <a:rPr lang="en-US" dirty="0"/>
              <a:t>: Two men (around 30s) arrested near Paris (one at CDG airport attempting to fly to Algeria; another in Seine-Saint-Denis reportedly planning to travel to Mali). Arrests announced late October 2025. </a:t>
            </a:r>
          </a:p>
          <a:p>
            <a:r>
              <a:rPr lang="en-US" dirty="0"/>
              <a:t>No public confirmation that all pieces have been recovered.</a:t>
            </a:r>
          </a:p>
          <a:p>
            <a:r>
              <a:rPr lang="en-US" b="1" dirty="0"/>
              <a:t>Reaction</a:t>
            </a:r>
            <a:r>
              <a:rPr lang="en-US" dirty="0"/>
              <a:t>: Prosecutor criticized premature public disclosure of arrests during ongoing investigation.</a:t>
            </a:r>
          </a:p>
        </p:txBody>
      </p:sp>
      <p:sp>
        <p:nvSpPr>
          <p:cNvPr id="22"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1517135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C8F9764-7A36-67B4-33DA-90A723E7ED92}"/>
              </a:ext>
            </a:extLst>
          </p:cNvPr>
          <p:cNvPicPr>
            <a:picLocks noChangeAspect="1"/>
          </p:cNvPicPr>
          <p:nvPr/>
        </p:nvPicPr>
        <p:blipFill>
          <a:blip r:embed="rId2">
            <a:alphaModFix amt="50000"/>
            <a:grayscl/>
            <a:extLst>
              <a:ext uri="{28A0092B-C50C-407E-A947-70E740481C1C}">
                <a14:useLocalDpi xmlns:a14="http://schemas.microsoft.com/office/drawing/2010/main" val="0"/>
              </a:ext>
            </a:extLst>
          </a:blip>
          <a:srcRect r="3"/>
          <a:stretch>
            <a:fillRect/>
          </a:stretch>
        </p:blipFill>
        <p:spPr>
          <a:xfrm>
            <a:off x="305" y="10"/>
            <a:ext cx="12191695" cy="6857990"/>
          </a:xfrm>
          <a:prstGeom prst="rect">
            <a:avLst/>
          </a:prstGeom>
        </p:spPr>
      </p:pic>
      <p:sp>
        <p:nvSpPr>
          <p:cNvPr id="17"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6" name="Rectangle 1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9FF8CAE0-C3DA-12EC-B0FB-BDA1B6E06E07}"/>
              </a:ext>
            </a:extLst>
          </p:cNvPr>
          <p:cNvSpPr>
            <a:spLocks noGrp="1"/>
          </p:cNvSpPr>
          <p:nvPr>
            <p:ph type="title"/>
          </p:nvPr>
        </p:nvSpPr>
        <p:spPr>
          <a:xfrm>
            <a:off x="1130271" y="1193800"/>
            <a:ext cx="3193050" cy="4699000"/>
          </a:xfrm>
        </p:spPr>
        <p:txBody>
          <a:bodyPr anchor="ctr">
            <a:normAutofit/>
          </a:bodyPr>
          <a:lstStyle/>
          <a:p>
            <a:r>
              <a:rPr lang="en-US" dirty="0">
                <a:latin typeface="Brush Script MT" panose="03060802040406070304" pitchFamily="66" charset="0"/>
              </a:rPr>
              <a:t>Media coverage and public perception</a:t>
            </a:r>
          </a:p>
        </p:txBody>
      </p:sp>
      <p:cxnSp>
        <p:nvCxnSpPr>
          <p:cNvPr id="18" name="Straight Connector 1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25C3A9D-81ED-6342-B7E1-278FE312763B}"/>
              </a:ext>
            </a:extLst>
          </p:cNvPr>
          <p:cNvSpPr>
            <a:spLocks noGrp="1"/>
          </p:cNvSpPr>
          <p:nvPr>
            <p:ph idx="1"/>
          </p:nvPr>
        </p:nvSpPr>
        <p:spPr>
          <a:xfrm>
            <a:off x="4976636" y="1193800"/>
            <a:ext cx="6085091" cy="4699000"/>
          </a:xfrm>
        </p:spPr>
        <p:txBody>
          <a:bodyPr anchor="ctr">
            <a:normAutofit/>
          </a:bodyPr>
          <a:lstStyle/>
          <a:p>
            <a:r>
              <a:rPr lang="en-US" b="1" dirty="0"/>
              <a:t>Headlines</a:t>
            </a:r>
            <a:r>
              <a:rPr lang="en-US" dirty="0"/>
              <a:t>: Global news outlets framed it as a symbol of institutional vulnerability; social media amplified images of the lift and getaway </a:t>
            </a:r>
          </a:p>
          <a:p>
            <a:r>
              <a:rPr lang="en-US" b="1" dirty="0"/>
              <a:t>Reaction</a:t>
            </a:r>
            <a:r>
              <a:rPr lang="en-US" dirty="0"/>
              <a:t>:  The company that made the furniture lift posted a spoof ad that went viral, thus creating PR controversy</a:t>
            </a:r>
            <a:br>
              <a:rPr lang="en-US" dirty="0"/>
            </a:br>
            <a:br>
              <a:rPr lang="en-US" dirty="0"/>
            </a:br>
            <a:endParaRPr lang="en-US" dirty="0"/>
          </a:p>
        </p:txBody>
      </p:sp>
      <p:sp>
        <p:nvSpPr>
          <p:cNvPr id="2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529868350"/>
      </p:ext>
    </p:extLst>
  </p:cSld>
  <p:clrMapOvr>
    <a:overrideClrMapping bg1="dk1" tx1="lt1" bg2="dk2" tx2="lt2" accent1="accent1" accent2="accent2" accent3="accent3" accent4="accent4" accent5="accent5" accent6="accent6" hlink="hlink" folHlink="folHlink"/>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1615A4-D9D6-444A-1C99-76195B4B6862}"/>
              </a:ext>
            </a:extLst>
          </p:cNvPr>
          <p:cNvSpPr>
            <a:spLocks noGrp="1"/>
          </p:cNvSpPr>
          <p:nvPr>
            <p:ph type="title"/>
          </p:nvPr>
        </p:nvSpPr>
        <p:spPr>
          <a:xfrm>
            <a:off x="1451579" y="804519"/>
            <a:ext cx="9603275" cy="1049235"/>
          </a:xfrm>
        </p:spPr>
        <p:txBody>
          <a:bodyPr>
            <a:normAutofit/>
          </a:bodyPr>
          <a:lstStyle/>
          <a:p>
            <a:r>
              <a:rPr lang="en-US" dirty="0"/>
              <a:t>Sources of the material used in the presentation</a:t>
            </a:r>
          </a:p>
        </p:txBody>
      </p:sp>
      <p:cxnSp>
        <p:nvCxnSpPr>
          <p:cNvPr id="12" name="Straight Connector 11">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1853754"/>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4" name="Rectangle 13">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6" name="Rectangle 1">
            <a:extLst>
              <a:ext uri="{FF2B5EF4-FFF2-40B4-BE49-F238E27FC236}">
                <a16:creationId xmlns:a16="http://schemas.microsoft.com/office/drawing/2014/main" id="{E5AF2EAC-7492-59A1-FBB5-FDABE963117F}"/>
              </a:ext>
            </a:extLst>
          </p:cNvPr>
          <p:cNvGraphicFramePr>
            <a:graphicFrameLocks noGrp="1"/>
          </p:cNvGraphicFramePr>
          <p:nvPr>
            <p:ph idx="1"/>
            <p:extLst>
              <p:ext uri="{D42A27DB-BD31-4B8C-83A1-F6EECF244321}">
                <p14:modId xmlns:p14="http://schemas.microsoft.com/office/powerpoint/2010/main" val="3941879868"/>
              </p:ext>
            </p:extLst>
          </p:nvPr>
        </p:nvGraphicFramePr>
        <p:xfrm>
          <a:off x="1450975" y="2331497"/>
          <a:ext cx="9604375" cy="3723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1605425"/>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oup of people standing in front of a glass pyramid&#10;&#10;AI-generated content may be incorrect.">
            <a:extLst>
              <a:ext uri="{FF2B5EF4-FFF2-40B4-BE49-F238E27FC236}">
                <a16:creationId xmlns:a16="http://schemas.microsoft.com/office/drawing/2014/main" id="{3CF3E229-66B7-7B13-5579-85B8E5E363A4}"/>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15728" r="-1" b="-1"/>
          <a:stretch>
            <a:fillRect/>
          </a:stretch>
        </p:blipFill>
        <p:spPr>
          <a:xfrm>
            <a:off x="305" y="10"/>
            <a:ext cx="12191695" cy="6857990"/>
          </a:xfrm>
          <a:prstGeom prst="rect">
            <a:avLst/>
          </a:prstGeom>
        </p:spPr>
      </p:pic>
      <p:sp>
        <p:nvSpPr>
          <p:cNvPr id="13"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8"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7" name="Rectangle 16">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TextBox 3">
            <a:extLst>
              <a:ext uri="{FF2B5EF4-FFF2-40B4-BE49-F238E27FC236}">
                <a16:creationId xmlns:a16="http://schemas.microsoft.com/office/drawing/2014/main" id="{77D8786D-73EB-F90C-6B9C-40E7EC210E7D}"/>
              </a:ext>
            </a:extLst>
          </p:cNvPr>
          <p:cNvSpPr txBox="1"/>
          <p:nvPr/>
        </p:nvSpPr>
        <p:spPr>
          <a:xfrm>
            <a:off x="1130271" y="1193800"/>
            <a:ext cx="3193050" cy="469900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000" cap="all" dirty="0">
                <a:latin typeface="Brush Script MT" panose="03060802040406070304" pitchFamily="66" charset="0"/>
                <a:ea typeface="+mj-ea"/>
                <a:cs typeface="+mj-cs"/>
              </a:rPr>
              <a:t>The Legacy of the Louvre Heist</a:t>
            </a:r>
          </a:p>
        </p:txBody>
      </p:sp>
      <p:cxnSp>
        <p:nvCxnSpPr>
          <p:cNvPr id="19" name="Straight Connector 18">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8AB3804-47C6-58FC-2031-B3EDBEE1914B}"/>
              </a:ext>
            </a:extLst>
          </p:cNvPr>
          <p:cNvSpPr>
            <a:spLocks noGrp="1"/>
          </p:cNvSpPr>
          <p:nvPr>
            <p:ph idx="1"/>
          </p:nvPr>
        </p:nvSpPr>
        <p:spPr>
          <a:xfrm>
            <a:off x="4976636" y="1193800"/>
            <a:ext cx="6085091" cy="4699000"/>
          </a:xfrm>
        </p:spPr>
        <p:txBody>
          <a:bodyPr vert="horz" lIns="91440" tIns="45720" rIns="91440" bIns="45720" rtlCol="0" anchor="ctr">
            <a:normAutofit/>
          </a:bodyPr>
          <a:lstStyle/>
          <a:p>
            <a:r>
              <a:rPr lang="en-US" dirty="0"/>
              <a:t>The 2025 Louvre Heist is more than a crime, it’s a reminder of how fragile our shared heritage is.</a:t>
            </a:r>
          </a:p>
          <a:p>
            <a:r>
              <a:rPr lang="en-US" dirty="0"/>
              <a:t>It sparked global conversations about the value of art, security, and the tension between accessibility and preservation.</a:t>
            </a:r>
          </a:p>
          <a:p>
            <a:r>
              <a:rPr lang="en-US" dirty="0"/>
              <a:t>What was stolen were jewels, but what was truly endangered was history itself.</a:t>
            </a:r>
          </a:p>
          <a:p>
            <a:r>
              <a:rPr lang="en-US" dirty="0"/>
              <a:t>The question remains</a:t>
            </a:r>
            <a:r>
              <a:rPr lang="en-US" b="1" i="1" dirty="0"/>
              <a:t>: How do we protect beauty without imprisoning it?</a:t>
            </a:r>
          </a:p>
        </p:txBody>
      </p:sp>
      <p:sp>
        <p:nvSpPr>
          <p:cNvPr id="21"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71941557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5488918-EE11-45FF-9C54-1C97256E9266}">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TM10001114[[fn=Gallery]]</Template>
  <TotalTime>79</TotalTime>
  <Words>690</Words>
  <Application>Microsoft Office PowerPoint</Application>
  <PresentationFormat>Widescreen</PresentationFormat>
  <Paragraphs>37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Agency FB</vt:lpstr>
      <vt:lpstr>Arial</vt:lpstr>
      <vt:lpstr>Baguet Script</vt:lpstr>
      <vt:lpstr>Brush Script MT</vt:lpstr>
      <vt:lpstr>Gill Sans MT</vt:lpstr>
      <vt:lpstr>Gallery</vt:lpstr>
      <vt:lpstr>The Louvre Heist</vt:lpstr>
      <vt:lpstr>Table of contents</vt:lpstr>
      <vt:lpstr>A Summary of events</vt:lpstr>
      <vt:lpstr>The target</vt:lpstr>
      <vt:lpstr>Chronological Timeline</vt:lpstr>
      <vt:lpstr>How they did it: The methods and tools behind the heist</vt:lpstr>
      <vt:lpstr>Investigation progress and arrests</vt:lpstr>
      <vt:lpstr>Media coverage and public perception</vt:lpstr>
      <vt:lpstr>Sources of the material used in the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Faris Sajjad</dc:creator>
  <cp:lastModifiedBy>Faris Sajjad</cp:lastModifiedBy>
  <cp:revision>1</cp:revision>
  <dcterms:created xsi:type="dcterms:W3CDTF">2025-10-28T04:15:42Z</dcterms:created>
  <dcterms:modified xsi:type="dcterms:W3CDTF">2025-10-28T05:35:01Z</dcterms:modified>
</cp:coreProperties>
</file>